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8229600" cx="14630400"/>
  <p:notesSz cx="8229600" cy="14630400"/>
  <p:embeddedFontLst>
    <p:embeddedFont>
      <p:font typeface="Alice"/>
      <p:regular r:id="rId16"/>
    </p:embeddedFont>
    <p:embeddedFont>
      <p:font typeface="Lora"/>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6jdlCovivt7EM+Fc43o5NojNe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ora-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ora-regular.fntdata"/><Relationship Id="rId16" Type="http://schemas.openxmlformats.org/officeDocument/2006/relationships/font" Target="fonts/Alice-regular.fntdata"/><Relationship Id="rId5" Type="http://schemas.openxmlformats.org/officeDocument/2006/relationships/slide" Target="slides/slide1.xml"/><Relationship Id="rId19" Type="http://schemas.openxmlformats.org/officeDocument/2006/relationships/font" Target="fonts/Lora-italic.fntdata"/><Relationship Id="rId6" Type="http://schemas.openxmlformats.org/officeDocument/2006/relationships/slide" Target="slides/slide2.xml"/><Relationship Id="rId18" Type="http://schemas.openxmlformats.org/officeDocument/2006/relationships/font" Target="fonts/Lora-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 name="Google Shape;5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2" name="Google Shape;6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5" name="Google Shape;7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7" name="Google Shape;9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4" name="Google Shape;11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9" name="Google Shape;12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5" name="Google Shape;14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3" name="Google Shape;16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2" name="Google Shape;18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7" name="Google Shape;20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6" name="Shape 6"/>
        <p:cNvGrpSpPr/>
        <p:nvPr/>
      </p:nvGrpSpPr>
      <p:grpSpPr>
        <a:xfrm>
          <a:off x="0" y="0"/>
          <a:ext cx="0" cy="0"/>
          <a:chOff x="0" y="0"/>
          <a:chExt cx="0" cy="0"/>
        </a:xfrm>
      </p:grpSpPr>
      <p:sp>
        <p:nvSpPr>
          <p:cNvPr id="7" name="Google Shape;7;p13"/>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3"/>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 name="Google Shape;9;p1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0" name="Shape 10"/>
        <p:cNvGrpSpPr/>
        <p:nvPr/>
      </p:nvGrpSpPr>
      <p:grpSpPr>
        <a:xfrm>
          <a:off x="0" y="0"/>
          <a:ext cx="0" cy="0"/>
          <a:chOff x="0" y="0"/>
          <a:chExt cx="0" cy="0"/>
        </a:xfrm>
      </p:grpSpPr>
      <p:sp>
        <p:nvSpPr>
          <p:cNvPr id="11" name="Google Shape;11;p14"/>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4"/>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4" name="Shape 14"/>
        <p:cNvGrpSpPr/>
        <p:nvPr/>
      </p:nvGrpSpPr>
      <p:grpSpPr>
        <a:xfrm>
          <a:off x="0" y="0"/>
          <a:ext cx="0" cy="0"/>
          <a:chOff x="0" y="0"/>
          <a:chExt cx="0" cy="0"/>
        </a:xfrm>
      </p:grpSpPr>
      <p:sp>
        <p:nvSpPr>
          <p:cNvPr id="15" name="Google Shape;15;p15"/>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8" name="Shape 18"/>
        <p:cNvGrpSpPr/>
        <p:nvPr/>
      </p:nvGrpSpPr>
      <p:grpSpPr>
        <a:xfrm>
          <a:off x="0" y="0"/>
          <a:ext cx="0" cy="0"/>
          <a:chOff x="0" y="0"/>
          <a:chExt cx="0" cy="0"/>
        </a:xfrm>
      </p:grpSpPr>
      <p:sp>
        <p:nvSpPr>
          <p:cNvPr id="19" name="Google Shape;19;p16"/>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6"/>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17"/>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7"/>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6" name="Shape 26"/>
        <p:cNvGrpSpPr/>
        <p:nvPr/>
      </p:nvGrpSpPr>
      <p:grpSpPr>
        <a:xfrm>
          <a:off x="0" y="0"/>
          <a:ext cx="0" cy="0"/>
          <a:chOff x="0" y="0"/>
          <a:chExt cx="0" cy="0"/>
        </a:xfrm>
      </p:grpSpPr>
      <p:sp>
        <p:nvSpPr>
          <p:cNvPr id="27" name="Google Shape;27;p18"/>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8"/>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0" name="Shape 30"/>
        <p:cNvGrpSpPr/>
        <p:nvPr/>
      </p:nvGrpSpPr>
      <p:grpSpPr>
        <a:xfrm>
          <a:off x="0" y="0"/>
          <a:ext cx="0" cy="0"/>
          <a:chOff x="0" y="0"/>
          <a:chExt cx="0" cy="0"/>
        </a:xfrm>
      </p:grpSpPr>
      <p:sp>
        <p:nvSpPr>
          <p:cNvPr id="31" name="Google Shape;31;p19"/>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9"/>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4" name="Shape 34"/>
        <p:cNvGrpSpPr/>
        <p:nvPr/>
      </p:nvGrpSpPr>
      <p:grpSpPr>
        <a:xfrm>
          <a:off x="0" y="0"/>
          <a:ext cx="0" cy="0"/>
          <a:chOff x="0" y="0"/>
          <a:chExt cx="0" cy="0"/>
        </a:xfrm>
      </p:grpSpPr>
      <p:sp>
        <p:nvSpPr>
          <p:cNvPr id="35" name="Google Shape;35;p20"/>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0"/>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2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8" name="Shape 38"/>
        <p:cNvGrpSpPr/>
        <p:nvPr/>
      </p:nvGrpSpPr>
      <p:grpSpPr>
        <a:xfrm>
          <a:off x="0" y="0"/>
          <a:ext cx="0" cy="0"/>
          <a:chOff x="0" y="0"/>
          <a:chExt cx="0" cy="0"/>
        </a:xfrm>
      </p:grpSpPr>
      <p:sp>
        <p:nvSpPr>
          <p:cNvPr id="39" name="Google Shape;39;p21"/>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1"/>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2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2" name="Shape 42"/>
        <p:cNvGrpSpPr/>
        <p:nvPr/>
      </p:nvGrpSpPr>
      <p:grpSpPr>
        <a:xfrm>
          <a:off x="0" y="0"/>
          <a:ext cx="0" cy="0"/>
          <a:chOff x="0" y="0"/>
          <a:chExt cx="0" cy="0"/>
        </a:xfrm>
      </p:grpSpPr>
      <p:sp>
        <p:nvSpPr>
          <p:cNvPr id="43" name="Google Shape;43;p22"/>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2"/>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2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p:nvPr/>
        </p:nvSpPr>
        <p:spPr>
          <a:xfrm>
            <a:off x="9144000" y="0"/>
            <a:ext cx="5486400" cy="8229600"/>
          </a:xfrm>
          <a:prstGeom prst="rect">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
          <p:cNvSpPr/>
          <p:nvPr/>
        </p:nvSpPr>
        <p:spPr>
          <a:xfrm>
            <a:off x="793790" y="2916674"/>
            <a:ext cx="7556421" cy="1240155"/>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b="0" i="0" lang="en-US" sz="3900" u="none" cap="none" strike="noStrike">
                <a:solidFill>
                  <a:srgbClr val="233E32"/>
                </a:solidFill>
                <a:latin typeface="Alice"/>
                <a:ea typeface="Alice"/>
                <a:cs typeface="Alice"/>
                <a:sym typeface="Alice"/>
              </a:rPr>
              <a:t>Brain Tumor Classification Using Deep Learning</a:t>
            </a:r>
            <a:endParaRPr b="0" i="0" sz="3900" u="none" cap="none" strike="noStrike">
              <a:solidFill>
                <a:schemeClr val="dk1"/>
              </a:solidFill>
              <a:latin typeface="Calibri"/>
              <a:ea typeface="Calibri"/>
              <a:cs typeface="Calibri"/>
              <a:sym typeface="Calibri"/>
            </a:endParaRPr>
          </a:p>
        </p:txBody>
      </p:sp>
      <p:sp>
        <p:nvSpPr>
          <p:cNvPr id="54" name="Google Shape;54;p1"/>
          <p:cNvSpPr/>
          <p:nvPr/>
        </p:nvSpPr>
        <p:spPr>
          <a:xfrm>
            <a:off x="793790" y="4454485"/>
            <a:ext cx="7556421"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0" i="1" lang="en-US" sz="1550" u="none" cap="none" strike="noStrike">
                <a:solidFill>
                  <a:srgbClr val="2C2821"/>
                </a:solidFill>
                <a:latin typeface="Lora"/>
                <a:ea typeface="Lora"/>
                <a:cs typeface="Lora"/>
                <a:sym typeface="Lora"/>
              </a:rPr>
              <a:t>An Automated System for Multi-Class MRI Image Analysis</a:t>
            </a:r>
            <a:endParaRPr b="0" i="0" sz="1550" u="none" cap="none" strike="noStrike">
              <a:solidFill>
                <a:schemeClr val="dk1"/>
              </a:solidFill>
              <a:latin typeface="Calibri"/>
              <a:ea typeface="Calibri"/>
              <a:cs typeface="Calibri"/>
              <a:sym typeface="Calibri"/>
            </a:endParaRPr>
          </a:p>
        </p:txBody>
      </p:sp>
      <p:sp>
        <p:nvSpPr>
          <p:cNvPr id="55" name="Google Shape;55;p1"/>
          <p:cNvSpPr/>
          <p:nvPr/>
        </p:nvSpPr>
        <p:spPr>
          <a:xfrm>
            <a:off x="793790" y="4995267"/>
            <a:ext cx="7556421"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i="0" lang="en-US" sz="1550" u="none" cap="none" strike="noStrike">
                <a:solidFill>
                  <a:srgbClr val="2C2821"/>
                </a:solidFill>
                <a:latin typeface="Lora"/>
                <a:ea typeface="Lora"/>
                <a:cs typeface="Lora"/>
                <a:sym typeface="Lora"/>
              </a:rPr>
              <a:t>Name: Ariful Hassan</a:t>
            </a:r>
            <a:r>
              <a:rPr b="0" i="0" lang="en-US" sz="1550" u="none" cap="none" strike="noStrike">
                <a:solidFill>
                  <a:srgbClr val="2C2821"/>
                </a:solidFill>
                <a:latin typeface="Lora"/>
                <a:ea typeface="Lora"/>
                <a:cs typeface="Lora"/>
                <a:sym typeface="Lora"/>
              </a:rPr>
              <a:t> | </a:t>
            </a:r>
            <a:r>
              <a:rPr b="1" i="0" lang="en-US" sz="1550" u="none" cap="none" strike="noStrike">
                <a:solidFill>
                  <a:srgbClr val="2C2821"/>
                </a:solidFill>
                <a:latin typeface="Lora"/>
                <a:ea typeface="Lora"/>
                <a:cs typeface="Lora"/>
                <a:sym typeface="Lora"/>
              </a:rPr>
              <a:t>CSE 713 /BRAC University</a:t>
            </a:r>
            <a:r>
              <a:rPr b="0" i="0" lang="en-US" sz="1550" u="none" cap="none" strike="noStrike">
                <a:solidFill>
                  <a:srgbClr val="2C2821"/>
                </a:solidFill>
                <a:latin typeface="Lora"/>
                <a:ea typeface="Lora"/>
                <a:cs typeface="Lora"/>
                <a:sym typeface="Lora"/>
              </a:rPr>
              <a:t> | </a:t>
            </a:r>
            <a:r>
              <a:rPr b="1" i="0" lang="en-US" sz="1550" u="none" cap="none" strike="noStrike">
                <a:solidFill>
                  <a:srgbClr val="2C2821"/>
                </a:solidFill>
                <a:latin typeface="Lora"/>
                <a:ea typeface="Lora"/>
                <a:cs typeface="Lora"/>
                <a:sym typeface="Lora"/>
              </a:rPr>
              <a:t>26/04/2026</a:t>
            </a:r>
            <a:endParaRPr b="0" i="0" sz="1550" u="none" cap="none" strike="noStrike">
              <a:solidFill>
                <a:schemeClr val="dk1"/>
              </a:solidFill>
              <a:latin typeface="Calibri"/>
              <a:ea typeface="Calibri"/>
              <a:cs typeface="Calibri"/>
              <a:sym typeface="Calibri"/>
            </a:endParaRPr>
          </a:p>
        </p:txBody>
      </p:sp>
      <p:grpSp>
        <p:nvGrpSpPr>
          <p:cNvPr id="56" name="Google Shape;56;p1"/>
          <p:cNvGrpSpPr/>
          <p:nvPr/>
        </p:nvGrpSpPr>
        <p:grpSpPr>
          <a:xfrm>
            <a:off x="9144000" y="880087"/>
            <a:ext cx="5059680" cy="5998329"/>
            <a:chOff x="9144000" y="46967"/>
            <a:chExt cx="4177236" cy="5998329"/>
          </a:xfrm>
        </p:grpSpPr>
        <p:pic>
          <p:nvPicPr>
            <p:cNvPr id="57" name="Google Shape;57;p1"/>
            <p:cNvPicPr preferRelativeResize="0"/>
            <p:nvPr/>
          </p:nvPicPr>
          <p:blipFill rotWithShape="1">
            <a:blip r:embed="rId3">
              <a:alphaModFix/>
            </a:blip>
            <a:srcRect b="0" l="0" r="0" t="0"/>
            <a:stretch/>
          </p:blipFill>
          <p:spPr>
            <a:xfrm>
              <a:off x="9144000" y="46967"/>
              <a:ext cx="4177236" cy="2869707"/>
            </a:xfrm>
            <a:prstGeom prst="rect">
              <a:avLst/>
            </a:prstGeom>
            <a:noFill/>
            <a:ln>
              <a:noFill/>
            </a:ln>
          </p:spPr>
        </p:pic>
        <p:pic>
          <p:nvPicPr>
            <p:cNvPr id="58" name="Google Shape;58;p1"/>
            <p:cNvPicPr preferRelativeResize="0"/>
            <p:nvPr/>
          </p:nvPicPr>
          <p:blipFill rotWithShape="1">
            <a:blip r:embed="rId3">
              <a:alphaModFix/>
            </a:blip>
            <a:srcRect b="0" l="0" r="0" t="0"/>
            <a:stretch/>
          </p:blipFill>
          <p:spPr>
            <a:xfrm>
              <a:off x="9144000" y="2963641"/>
              <a:ext cx="4177236" cy="308165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p:nvPr/>
        </p:nvSpPr>
        <p:spPr>
          <a:xfrm>
            <a:off x="793790" y="1664018"/>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lang="en-US" sz="3900">
                <a:solidFill>
                  <a:srgbClr val="233E32"/>
                </a:solidFill>
                <a:latin typeface="Alice"/>
                <a:ea typeface="Alice"/>
                <a:cs typeface="Alice"/>
                <a:sym typeface="Alice"/>
              </a:rPr>
              <a:t>The Clinical Challenge</a:t>
            </a:r>
            <a:endParaRPr sz="3900">
              <a:solidFill>
                <a:schemeClr val="dk1"/>
              </a:solidFill>
              <a:latin typeface="Calibri"/>
              <a:ea typeface="Calibri"/>
              <a:cs typeface="Calibri"/>
              <a:sym typeface="Calibri"/>
            </a:endParaRPr>
          </a:p>
        </p:txBody>
      </p:sp>
      <p:sp>
        <p:nvSpPr>
          <p:cNvPr id="65" name="Google Shape;65;p2"/>
          <p:cNvSpPr/>
          <p:nvPr/>
        </p:nvSpPr>
        <p:spPr>
          <a:xfrm>
            <a:off x="793790" y="2780109"/>
            <a:ext cx="3631763"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lang="en-US" sz="2300">
                <a:solidFill>
                  <a:srgbClr val="233E32"/>
                </a:solidFill>
                <a:latin typeface="Alice"/>
                <a:ea typeface="Alice"/>
                <a:cs typeface="Alice"/>
                <a:sym typeface="Alice"/>
              </a:rPr>
              <a:t>Current Diagnostic Process</a:t>
            </a:r>
            <a:endParaRPr sz="2300">
              <a:solidFill>
                <a:schemeClr val="dk1"/>
              </a:solidFill>
              <a:latin typeface="Calibri"/>
              <a:ea typeface="Calibri"/>
              <a:cs typeface="Calibri"/>
              <a:sym typeface="Calibri"/>
            </a:endParaRPr>
          </a:p>
        </p:txBody>
      </p:sp>
      <p:sp>
        <p:nvSpPr>
          <p:cNvPr id="66" name="Google Shape;66;p2"/>
          <p:cNvSpPr/>
          <p:nvPr/>
        </p:nvSpPr>
        <p:spPr>
          <a:xfrm>
            <a:off x="793790" y="3350538"/>
            <a:ext cx="6279356" cy="158769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Brain tumors represent one of the most challenging neurological conditions, requiring early and precise diagnosis for optimal patient outcomes. Current clinical practice relies heavily on manual analysis of magnetic resonance imaging (MRI) scans by expert radiologists.</a:t>
            </a:r>
            <a:endParaRPr sz="1550">
              <a:solidFill>
                <a:schemeClr val="dk1"/>
              </a:solidFill>
              <a:latin typeface="Calibri"/>
              <a:ea typeface="Calibri"/>
              <a:cs typeface="Calibri"/>
              <a:sym typeface="Calibri"/>
            </a:endParaRPr>
          </a:p>
        </p:txBody>
      </p:sp>
      <p:sp>
        <p:nvSpPr>
          <p:cNvPr id="67" name="Google Shape;67;p2"/>
          <p:cNvSpPr/>
          <p:nvPr/>
        </p:nvSpPr>
        <p:spPr>
          <a:xfrm>
            <a:off x="793790" y="5116830"/>
            <a:ext cx="6279356"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This process is inherently time-consuming, resource-intensive, and subject to human variability. The shortage of qualified specialists in many regions creates diagnostic bottlenecks, delaying critical treatment decisions.</a:t>
            </a:r>
            <a:endParaRPr sz="1550">
              <a:solidFill>
                <a:schemeClr val="dk1"/>
              </a:solidFill>
              <a:latin typeface="Calibri"/>
              <a:ea typeface="Calibri"/>
              <a:cs typeface="Calibri"/>
              <a:sym typeface="Calibri"/>
            </a:endParaRPr>
          </a:p>
        </p:txBody>
      </p:sp>
      <p:sp>
        <p:nvSpPr>
          <p:cNvPr id="68" name="Google Shape;68;p2"/>
          <p:cNvSpPr/>
          <p:nvPr/>
        </p:nvSpPr>
        <p:spPr>
          <a:xfrm>
            <a:off x="7564874" y="2780109"/>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lang="en-US" sz="2300">
                <a:solidFill>
                  <a:srgbClr val="233E32"/>
                </a:solidFill>
                <a:latin typeface="Alice"/>
                <a:ea typeface="Alice"/>
                <a:cs typeface="Alice"/>
                <a:sym typeface="Alice"/>
              </a:rPr>
              <a:t>AI-Driven Solution</a:t>
            </a:r>
            <a:endParaRPr sz="2300">
              <a:solidFill>
                <a:schemeClr val="dk1"/>
              </a:solidFill>
              <a:latin typeface="Calibri"/>
              <a:ea typeface="Calibri"/>
              <a:cs typeface="Calibri"/>
              <a:sym typeface="Calibri"/>
            </a:endParaRPr>
          </a:p>
        </p:txBody>
      </p:sp>
      <p:sp>
        <p:nvSpPr>
          <p:cNvPr id="69" name="Google Shape;69;p2"/>
          <p:cNvSpPr/>
          <p:nvPr/>
        </p:nvSpPr>
        <p:spPr>
          <a:xfrm>
            <a:off x="7564874" y="3350538"/>
            <a:ext cx="6279356" cy="158769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Deep learning offers a transformative opportunity to automate initial tumor screening and classification. By training neural networks on thousands of annotated MRI images, we can develop systems that match or exceed human performance in specific diagnostic tasks.</a:t>
            </a:r>
            <a:endParaRPr sz="1550">
              <a:solidFill>
                <a:schemeClr val="dk1"/>
              </a:solidFill>
              <a:latin typeface="Calibri"/>
              <a:ea typeface="Calibri"/>
              <a:cs typeface="Calibri"/>
              <a:sym typeface="Calibri"/>
            </a:endParaRPr>
          </a:p>
        </p:txBody>
      </p:sp>
      <p:sp>
        <p:nvSpPr>
          <p:cNvPr id="70" name="Google Shape;70;p2"/>
          <p:cNvSpPr/>
          <p:nvPr/>
        </p:nvSpPr>
        <p:spPr>
          <a:xfrm>
            <a:off x="7564874" y="5116830"/>
            <a:ext cx="627935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Such automation enables faster triage, reduces workload on specialists, and improves accessibility to expert-level diagnosis in underserved areas.</a:t>
            </a:r>
            <a:endParaRPr sz="1550">
              <a:solidFill>
                <a:schemeClr val="dk1"/>
              </a:solidFill>
              <a:latin typeface="Calibri"/>
              <a:ea typeface="Calibri"/>
              <a:cs typeface="Calibri"/>
              <a:sym typeface="Calibri"/>
            </a:endParaRPr>
          </a:p>
        </p:txBody>
      </p:sp>
      <p:sp>
        <p:nvSpPr>
          <p:cNvPr id="71" name="Google Shape;71;p2"/>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3"/>
          <p:cNvSpPr/>
          <p:nvPr/>
        </p:nvSpPr>
        <p:spPr>
          <a:xfrm>
            <a:off x="793790" y="2002631"/>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lang="en-US" sz="3900">
                <a:solidFill>
                  <a:srgbClr val="233E32"/>
                </a:solidFill>
                <a:latin typeface="Alice"/>
                <a:ea typeface="Alice"/>
                <a:cs typeface="Alice"/>
                <a:sym typeface="Alice"/>
              </a:rPr>
              <a:t>Research Objectives</a:t>
            </a:r>
            <a:endParaRPr sz="3900">
              <a:solidFill>
                <a:schemeClr val="dk1"/>
              </a:solidFill>
              <a:latin typeface="Calibri"/>
              <a:ea typeface="Calibri"/>
              <a:cs typeface="Calibri"/>
              <a:sym typeface="Calibri"/>
            </a:endParaRPr>
          </a:p>
        </p:txBody>
      </p:sp>
      <p:sp>
        <p:nvSpPr>
          <p:cNvPr id="78" name="Google Shape;78;p3"/>
          <p:cNvSpPr/>
          <p:nvPr/>
        </p:nvSpPr>
        <p:spPr>
          <a:xfrm>
            <a:off x="793790" y="3019544"/>
            <a:ext cx="4215289" cy="3207306"/>
          </a:xfrm>
          <a:prstGeom prst="roundRect">
            <a:avLst>
              <a:gd fmla="val 928"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992148" y="3217902"/>
            <a:ext cx="595313" cy="595313"/>
          </a:xfrm>
          <a:prstGeom prst="roundRect">
            <a:avLst>
              <a:gd fmla="val 15358451"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3"/>
          <p:cNvPicPr preferRelativeResize="0"/>
          <p:nvPr/>
        </p:nvPicPr>
        <p:blipFill rotWithShape="1">
          <a:blip r:embed="rId3">
            <a:alphaModFix/>
          </a:blip>
          <a:srcRect b="0" l="0" r="0" t="0"/>
          <a:stretch/>
        </p:blipFill>
        <p:spPr>
          <a:xfrm>
            <a:off x="1155859" y="3381494"/>
            <a:ext cx="267891" cy="267891"/>
          </a:xfrm>
          <a:prstGeom prst="rect">
            <a:avLst/>
          </a:prstGeom>
          <a:noFill/>
          <a:ln>
            <a:noFill/>
          </a:ln>
        </p:spPr>
      </p:pic>
      <p:sp>
        <p:nvSpPr>
          <p:cNvPr id="81" name="Google Shape;81;p3"/>
          <p:cNvSpPr/>
          <p:nvPr/>
        </p:nvSpPr>
        <p:spPr>
          <a:xfrm>
            <a:off x="992148" y="4011573"/>
            <a:ext cx="2808446"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Multi-Class Classification</a:t>
            </a:r>
            <a:endParaRPr sz="1950">
              <a:solidFill>
                <a:schemeClr val="dk1"/>
              </a:solidFill>
              <a:latin typeface="Calibri"/>
              <a:ea typeface="Calibri"/>
              <a:cs typeface="Calibri"/>
              <a:sym typeface="Calibri"/>
            </a:endParaRPr>
          </a:p>
        </p:txBody>
      </p:sp>
      <p:sp>
        <p:nvSpPr>
          <p:cNvPr id="82" name="Google Shape;82;p3"/>
          <p:cNvSpPr/>
          <p:nvPr/>
        </p:nvSpPr>
        <p:spPr>
          <a:xfrm>
            <a:off x="992148" y="4440793"/>
            <a:ext cx="3818573" cy="158769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Develop a system capable of accurately classifying MRI images into four distinct categories: Glioma, Meningioma, Pituitary tumors, and healthy scans showing no tumor presence.</a:t>
            </a:r>
            <a:endParaRPr sz="1550">
              <a:solidFill>
                <a:schemeClr val="dk1"/>
              </a:solidFill>
              <a:latin typeface="Calibri"/>
              <a:ea typeface="Calibri"/>
              <a:cs typeface="Calibri"/>
              <a:sym typeface="Calibri"/>
            </a:endParaRPr>
          </a:p>
        </p:txBody>
      </p:sp>
      <p:sp>
        <p:nvSpPr>
          <p:cNvPr id="83" name="Google Shape;83;p3"/>
          <p:cNvSpPr/>
          <p:nvPr/>
        </p:nvSpPr>
        <p:spPr>
          <a:xfrm>
            <a:off x="5207437" y="3019544"/>
            <a:ext cx="4215408" cy="3207306"/>
          </a:xfrm>
          <a:prstGeom prst="roundRect">
            <a:avLst>
              <a:gd fmla="val 928"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5405795" y="3217902"/>
            <a:ext cx="595313" cy="595313"/>
          </a:xfrm>
          <a:prstGeom prst="roundRect">
            <a:avLst>
              <a:gd fmla="val 15358451"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5" name="Google Shape;85;p3"/>
          <p:cNvPicPr preferRelativeResize="0"/>
          <p:nvPr/>
        </p:nvPicPr>
        <p:blipFill rotWithShape="1">
          <a:blip r:embed="rId3">
            <a:alphaModFix/>
          </a:blip>
          <a:srcRect b="0" l="0" r="0" t="0"/>
          <a:stretch/>
        </p:blipFill>
        <p:spPr>
          <a:xfrm>
            <a:off x="5569506" y="3381494"/>
            <a:ext cx="267891" cy="267891"/>
          </a:xfrm>
          <a:prstGeom prst="rect">
            <a:avLst/>
          </a:prstGeom>
          <a:noFill/>
          <a:ln>
            <a:noFill/>
          </a:ln>
        </p:spPr>
      </p:pic>
      <p:sp>
        <p:nvSpPr>
          <p:cNvPr id="86" name="Google Shape;86;p3"/>
          <p:cNvSpPr/>
          <p:nvPr/>
        </p:nvSpPr>
        <p:spPr>
          <a:xfrm>
            <a:off x="5405795" y="4011573"/>
            <a:ext cx="3108127"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High Accuracy Performance</a:t>
            </a:r>
            <a:endParaRPr sz="1950">
              <a:solidFill>
                <a:schemeClr val="dk1"/>
              </a:solidFill>
              <a:latin typeface="Calibri"/>
              <a:ea typeface="Calibri"/>
              <a:cs typeface="Calibri"/>
              <a:sym typeface="Calibri"/>
            </a:endParaRPr>
          </a:p>
        </p:txBody>
      </p:sp>
      <p:sp>
        <p:nvSpPr>
          <p:cNvPr id="87" name="Google Shape;87;p3"/>
          <p:cNvSpPr/>
          <p:nvPr/>
        </p:nvSpPr>
        <p:spPr>
          <a:xfrm>
            <a:off x="5405795" y="4440793"/>
            <a:ext cx="3818692" cy="158769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Achieve classification accuracy exceeding 90% while maintaining low false positive rates, ensuring reliable predictions that can support clinical decision-making.</a:t>
            </a:r>
            <a:endParaRPr sz="1550">
              <a:solidFill>
                <a:schemeClr val="dk1"/>
              </a:solidFill>
              <a:latin typeface="Calibri"/>
              <a:ea typeface="Calibri"/>
              <a:cs typeface="Calibri"/>
              <a:sym typeface="Calibri"/>
            </a:endParaRPr>
          </a:p>
        </p:txBody>
      </p:sp>
      <p:sp>
        <p:nvSpPr>
          <p:cNvPr id="88" name="Google Shape;88;p3"/>
          <p:cNvSpPr/>
          <p:nvPr/>
        </p:nvSpPr>
        <p:spPr>
          <a:xfrm>
            <a:off x="9621203" y="3019544"/>
            <a:ext cx="4215289" cy="3207306"/>
          </a:xfrm>
          <a:prstGeom prst="roundRect">
            <a:avLst>
              <a:gd fmla="val 928"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9819561" y="3217902"/>
            <a:ext cx="595313" cy="595313"/>
          </a:xfrm>
          <a:prstGeom prst="roundRect">
            <a:avLst>
              <a:gd fmla="val 15358451" name="adj"/>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 name="Google Shape;90;p3"/>
          <p:cNvPicPr preferRelativeResize="0"/>
          <p:nvPr/>
        </p:nvPicPr>
        <p:blipFill rotWithShape="1">
          <a:blip r:embed="rId3">
            <a:alphaModFix/>
          </a:blip>
          <a:srcRect b="0" l="0" r="0" t="0"/>
          <a:stretch/>
        </p:blipFill>
        <p:spPr>
          <a:xfrm>
            <a:off x="9983272" y="3381494"/>
            <a:ext cx="267891" cy="267891"/>
          </a:xfrm>
          <a:prstGeom prst="rect">
            <a:avLst/>
          </a:prstGeom>
          <a:noFill/>
          <a:ln>
            <a:noFill/>
          </a:ln>
        </p:spPr>
      </p:pic>
      <p:sp>
        <p:nvSpPr>
          <p:cNvPr id="91" name="Google Shape;91;p3"/>
          <p:cNvSpPr/>
          <p:nvPr/>
        </p:nvSpPr>
        <p:spPr>
          <a:xfrm>
            <a:off x="9819561" y="4011573"/>
            <a:ext cx="2621280"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Explainable Predictions</a:t>
            </a:r>
            <a:endParaRPr sz="1950">
              <a:solidFill>
                <a:schemeClr val="dk1"/>
              </a:solidFill>
              <a:latin typeface="Calibri"/>
              <a:ea typeface="Calibri"/>
              <a:cs typeface="Calibri"/>
              <a:sym typeface="Calibri"/>
            </a:endParaRPr>
          </a:p>
        </p:txBody>
      </p:sp>
      <p:sp>
        <p:nvSpPr>
          <p:cNvPr id="92" name="Google Shape;92;p3"/>
          <p:cNvSpPr/>
          <p:nvPr/>
        </p:nvSpPr>
        <p:spPr>
          <a:xfrm>
            <a:off x="9819561" y="4440793"/>
            <a:ext cx="3818573" cy="1587698"/>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Implement visualization techniques that reveal which image regions influence the model's decisions, building trust with medical professionals and enabling error analysis.</a:t>
            </a:r>
            <a:endParaRPr sz="1550">
              <a:solidFill>
                <a:schemeClr val="dk1"/>
              </a:solidFill>
              <a:latin typeface="Calibri"/>
              <a:ea typeface="Calibri"/>
              <a:cs typeface="Calibri"/>
              <a:sym typeface="Calibri"/>
            </a:endParaRPr>
          </a:p>
        </p:txBody>
      </p:sp>
      <p:sp>
        <p:nvSpPr>
          <p:cNvPr id="93" name="Google Shape;93;p3"/>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p:nvPr/>
        </p:nvSpPr>
        <p:spPr>
          <a:xfrm>
            <a:off x="793790" y="1326594"/>
            <a:ext cx="781169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lang="en-US" sz="3900">
                <a:solidFill>
                  <a:srgbClr val="233E32"/>
                </a:solidFill>
                <a:latin typeface="Alice"/>
                <a:ea typeface="Alice"/>
                <a:cs typeface="Alice"/>
                <a:sym typeface="Alice"/>
              </a:rPr>
              <a:t>Dataset and Preprocessing Pipeline</a:t>
            </a:r>
            <a:endParaRPr sz="3900">
              <a:solidFill>
                <a:schemeClr val="dk1"/>
              </a:solidFill>
              <a:latin typeface="Calibri"/>
              <a:ea typeface="Calibri"/>
              <a:cs typeface="Calibri"/>
              <a:sym typeface="Calibri"/>
            </a:endParaRPr>
          </a:p>
        </p:txBody>
      </p:sp>
      <p:sp>
        <p:nvSpPr>
          <p:cNvPr id="100" name="Google Shape;100;p4"/>
          <p:cNvSpPr/>
          <p:nvPr/>
        </p:nvSpPr>
        <p:spPr>
          <a:xfrm>
            <a:off x="793790" y="2442686"/>
            <a:ext cx="3090862"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lang="en-US" sz="2300">
                <a:solidFill>
                  <a:srgbClr val="233E32"/>
                </a:solidFill>
                <a:latin typeface="Alice"/>
                <a:ea typeface="Alice"/>
                <a:cs typeface="Alice"/>
                <a:sym typeface="Alice"/>
              </a:rPr>
              <a:t>Dataset Characteristics</a:t>
            </a:r>
            <a:endParaRPr sz="2300">
              <a:solidFill>
                <a:schemeClr val="dk1"/>
              </a:solidFill>
              <a:latin typeface="Calibri"/>
              <a:ea typeface="Calibri"/>
              <a:cs typeface="Calibri"/>
              <a:sym typeface="Calibri"/>
            </a:endParaRPr>
          </a:p>
        </p:txBody>
      </p:sp>
      <p:sp>
        <p:nvSpPr>
          <p:cNvPr id="101" name="Google Shape;101;p4"/>
          <p:cNvSpPr/>
          <p:nvPr/>
        </p:nvSpPr>
        <p:spPr>
          <a:xfrm>
            <a:off x="793790" y="3013115"/>
            <a:ext cx="7632025"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The dataset sourced from Kaggle's MRI collection contains thousands of annotated brain MRI images spanning four diagnostic categories. Each image represents a unique patient scan, ensuring diversity in tumor presentations and imaging conditions.</a:t>
            </a:r>
            <a:endParaRPr sz="1550">
              <a:solidFill>
                <a:schemeClr val="dk1"/>
              </a:solidFill>
              <a:latin typeface="Calibri"/>
              <a:ea typeface="Calibri"/>
              <a:cs typeface="Calibri"/>
              <a:sym typeface="Calibri"/>
            </a:endParaRPr>
          </a:p>
        </p:txBody>
      </p:sp>
      <p:sp>
        <p:nvSpPr>
          <p:cNvPr id="102" name="Google Shape;102;p4"/>
          <p:cNvSpPr/>
          <p:nvPr/>
        </p:nvSpPr>
        <p:spPr>
          <a:xfrm>
            <a:off x="793790" y="4461867"/>
            <a:ext cx="7632025"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The four classes include:</a:t>
            </a:r>
            <a:endParaRPr sz="1550">
              <a:solidFill>
                <a:schemeClr val="dk1"/>
              </a:solidFill>
              <a:latin typeface="Calibri"/>
              <a:ea typeface="Calibri"/>
              <a:cs typeface="Calibri"/>
              <a:sym typeface="Calibri"/>
            </a:endParaRPr>
          </a:p>
        </p:txBody>
      </p:sp>
      <p:sp>
        <p:nvSpPr>
          <p:cNvPr id="103" name="Google Shape;103;p4"/>
          <p:cNvSpPr/>
          <p:nvPr/>
        </p:nvSpPr>
        <p:spPr>
          <a:xfrm>
            <a:off x="793790" y="4958001"/>
            <a:ext cx="7632025" cy="1478399"/>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2821"/>
              </a:buClr>
              <a:buSzPts val="1550"/>
              <a:buFont typeface="Lora"/>
              <a:buChar char="•"/>
            </a:pPr>
            <a:r>
              <a:rPr b="1" lang="en-US" sz="1550">
                <a:solidFill>
                  <a:srgbClr val="2C2821"/>
                </a:solidFill>
                <a:latin typeface="Lora"/>
                <a:ea typeface="Lora"/>
                <a:cs typeface="Lora"/>
                <a:sym typeface="Lora"/>
              </a:rPr>
              <a:t>Glioma:</a:t>
            </a:r>
            <a:r>
              <a:rPr lang="en-US" sz="1550">
                <a:solidFill>
                  <a:srgbClr val="2C2821"/>
                </a:solidFill>
                <a:latin typeface="Lora"/>
                <a:ea typeface="Lora"/>
                <a:cs typeface="Lora"/>
                <a:sym typeface="Lora"/>
              </a:rPr>
              <a:t> Most common primary brain tumor originating from glial cells</a:t>
            </a:r>
            <a:endParaRPr sz="1550">
              <a:solidFill>
                <a:schemeClr val="dk1"/>
              </a:solidFill>
              <a:latin typeface="Calibri"/>
              <a:ea typeface="Calibri"/>
              <a:cs typeface="Calibri"/>
              <a:sym typeface="Calibri"/>
            </a:endParaRPr>
          </a:p>
          <a:p>
            <a:pPr indent="-342900" lvl="0" marL="342900" marR="0" rtl="0" algn="l">
              <a:lnSpc>
                <a:spcPct val="161290"/>
              </a:lnSpc>
              <a:spcBef>
                <a:spcPts val="0"/>
              </a:spcBef>
              <a:spcAft>
                <a:spcPts val="0"/>
              </a:spcAft>
              <a:buClr>
                <a:srgbClr val="2C2821"/>
              </a:buClr>
              <a:buSzPts val="1550"/>
              <a:buFont typeface="Lora"/>
              <a:buChar char="•"/>
            </a:pPr>
            <a:r>
              <a:rPr b="1" lang="en-US" sz="1550">
                <a:solidFill>
                  <a:srgbClr val="2C2821"/>
                </a:solidFill>
                <a:latin typeface="Lora"/>
                <a:ea typeface="Lora"/>
                <a:cs typeface="Lora"/>
                <a:sym typeface="Lora"/>
              </a:rPr>
              <a:t>Meningioma:</a:t>
            </a:r>
            <a:r>
              <a:rPr lang="en-US" sz="1550">
                <a:solidFill>
                  <a:srgbClr val="2C2821"/>
                </a:solidFill>
                <a:latin typeface="Lora"/>
                <a:ea typeface="Lora"/>
                <a:cs typeface="Lora"/>
                <a:sym typeface="Lora"/>
              </a:rPr>
              <a:t> Typically benign tumors arising from meninges</a:t>
            </a:r>
            <a:endParaRPr sz="1550">
              <a:solidFill>
                <a:schemeClr val="dk1"/>
              </a:solidFill>
              <a:latin typeface="Calibri"/>
              <a:ea typeface="Calibri"/>
              <a:cs typeface="Calibri"/>
              <a:sym typeface="Calibri"/>
            </a:endParaRPr>
          </a:p>
          <a:p>
            <a:pPr indent="-342900" lvl="0" marL="342900" marR="0" rtl="0" algn="l">
              <a:lnSpc>
                <a:spcPct val="161290"/>
              </a:lnSpc>
              <a:spcBef>
                <a:spcPts val="0"/>
              </a:spcBef>
              <a:spcAft>
                <a:spcPts val="0"/>
              </a:spcAft>
              <a:buClr>
                <a:srgbClr val="2C2821"/>
              </a:buClr>
              <a:buSzPts val="1550"/>
              <a:buFont typeface="Lora"/>
              <a:buChar char="•"/>
            </a:pPr>
            <a:r>
              <a:rPr b="1" lang="en-US" sz="1550">
                <a:solidFill>
                  <a:srgbClr val="2C2821"/>
                </a:solidFill>
                <a:latin typeface="Lora"/>
                <a:ea typeface="Lora"/>
                <a:cs typeface="Lora"/>
                <a:sym typeface="Lora"/>
              </a:rPr>
              <a:t>Pituitary:</a:t>
            </a:r>
            <a:r>
              <a:rPr lang="en-US" sz="1550">
                <a:solidFill>
                  <a:srgbClr val="2C2821"/>
                </a:solidFill>
                <a:latin typeface="Lora"/>
                <a:ea typeface="Lora"/>
                <a:cs typeface="Lora"/>
                <a:sym typeface="Lora"/>
              </a:rPr>
              <a:t> Tumors in the pituitary gland region</a:t>
            </a:r>
            <a:endParaRPr sz="1550">
              <a:solidFill>
                <a:schemeClr val="dk1"/>
              </a:solidFill>
              <a:latin typeface="Calibri"/>
              <a:ea typeface="Calibri"/>
              <a:cs typeface="Calibri"/>
              <a:sym typeface="Calibri"/>
            </a:endParaRPr>
          </a:p>
          <a:p>
            <a:pPr indent="-342900" lvl="0" marL="342900" marR="0" rtl="0" algn="l">
              <a:lnSpc>
                <a:spcPct val="161290"/>
              </a:lnSpc>
              <a:spcBef>
                <a:spcPts val="0"/>
              </a:spcBef>
              <a:spcAft>
                <a:spcPts val="0"/>
              </a:spcAft>
              <a:buClr>
                <a:srgbClr val="2C2821"/>
              </a:buClr>
              <a:buSzPts val="1550"/>
              <a:buFont typeface="Lora"/>
              <a:buChar char="•"/>
            </a:pPr>
            <a:r>
              <a:rPr b="1" lang="en-US" sz="1550">
                <a:solidFill>
                  <a:srgbClr val="2C2821"/>
                </a:solidFill>
                <a:latin typeface="Lora"/>
                <a:ea typeface="Lora"/>
                <a:cs typeface="Lora"/>
                <a:sym typeface="Lora"/>
              </a:rPr>
              <a:t>No Tumor:</a:t>
            </a:r>
            <a:r>
              <a:rPr lang="en-US" sz="1550">
                <a:solidFill>
                  <a:srgbClr val="2C2821"/>
                </a:solidFill>
                <a:latin typeface="Lora"/>
                <a:ea typeface="Lora"/>
                <a:cs typeface="Lora"/>
                <a:sym typeface="Lora"/>
              </a:rPr>
              <a:t> Healthy control scans</a:t>
            </a:r>
            <a:endParaRPr sz="1550">
              <a:solidFill>
                <a:schemeClr val="dk1"/>
              </a:solidFill>
              <a:latin typeface="Calibri"/>
              <a:ea typeface="Calibri"/>
              <a:cs typeface="Calibri"/>
              <a:sym typeface="Calibri"/>
            </a:endParaRPr>
          </a:p>
        </p:txBody>
      </p:sp>
      <p:sp>
        <p:nvSpPr>
          <p:cNvPr id="104" name="Google Shape;104;p4"/>
          <p:cNvSpPr/>
          <p:nvPr/>
        </p:nvSpPr>
        <p:spPr>
          <a:xfrm>
            <a:off x="8998823" y="4248567"/>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lang="en-US" sz="2300">
                <a:solidFill>
                  <a:srgbClr val="233E32"/>
                </a:solidFill>
                <a:latin typeface="Alice"/>
                <a:ea typeface="Alice"/>
                <a:cs typeface="Alice"/>
                <a:sym typeface="Alice"/>
              </a:rPr>
              <a:t>Data Preparation</a:t>
            </a:r>
            <a:endParaRPr sz="2300">
              <a:solidFill>
                <a:schemeClr val="dk1"/>
              </a:solidFill>
              <a:latin typeface="Calibri"/>
              <a:ea typeface="Calibri"/>
              <a:cs typeface="Calibri"/>
              <a:sym typeface="Calibri"/>
            </a:endParaRPr>
          </a:p>
        </p:txBody>
      </p:sp>
      <p:sp>
        <p:nvSpPr>
          <p:cNvPr id="105" name="Google Shape;105;p4"/>
          <p:cNvSpPr/>
          <p:nvPr/>
        </p:nvSpPr>
        <p:spPr>
          <a:xfrm>
            <a:off x="8998823" y="4647327"/>
            <a:ext cx="4926568"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Duplicate Removal:</a:t>
            </a:r>
            <a:r>
              <a:rPr lang="en-US" sz="1550">
                <a:solidFill>
                  <a:srgbClr val="2C2821"/>
                </a:solidFill>
                <a:latin typeface="Lora"/>
                <a:ea typeface="Lora"/>
                <a:cs typeface="Lora"/>
                <a:sym typeface="Lora"/>
              </a:rPr>
              <a:t> Perceptual hashing (pHash) eliminated redundant images, ensuring model training on unique samples.</a:t>
            </a:r>
            <a:endParaRPr sz="1550">
              <a:solidFill>
                <a:schemeClr val="dk1"/>
              </a:solidFill>
              <a:latin typeface="Calibri"/>
              <a:ea typeface="Calibri"/>
              <a:cs typeface="Calibri"/>
              <a:sym typeface="Calibri"/>
            </a:endParaRPr>
          </a:p>
        </p:txBody>
      </p:sp>
      <p:sp>
        <p:nvSpPr>
          <p:cNvPr id="106" name="Google Shape;106;p4"/>
          <p:cNvSpPr/>
          <p:nvPr/>
        </p:nvSpPr>
        <p:spPr>
          <a:xfrm>
            <a:off x="8998823" y="5603159"/>
            <a:ext cx="4926568"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Image Standardization:</a:t>
            </a:r>
            <a:r>
              <a:rPr lang="en-US" sz="1550">
                <a:solidFill>
                  <a:srgbClr val="2C2821"/>
                </a:solidFill>
                <a:latin typeface="Lora"/>
                <a:ea typeface="Lora"/>
                <a:cs typeface="Lora"/>
                <a:sym typeface="Lora"/>
              </a:rPr>
              <a:t> All images resized to 224×224 pixels for EfficientNet compatibility.</a:t>
            </a:r>
            <a:endParaRPr sz="1550">
              <a:solidFill>
                <a:schemeClr val="dk1"/>
              </a:solidFill>
              <a:latin typeface="Calibri"/>
              <a:ea typeface="Calibri"/>
              <a:cs typeface="Calibri"/>
              <a:sym typeface="Calibri"/>
            </a:endParaRPr>
          </a:p>
        </p:txBody>
      </p:sp>
      <p:sp>
        <p:nvSpPr>
          <p:cNvPr id="107" name="Google Shape;107;p4"/>
          <p:cNvSpPr/>
          <p:nvPr/>
        </p:nvSpPr>
        <p:spPr>
          <a:xfrm>
            <a:off x="8998823" y="6264354"/>
            <a:ext cx="4926568"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Quality Enhancement:</a:t>
            </a:r>
            <a:r>
              <a:rPr lang="en-US" sz="1550">
                <a:solidFill>
                  <a:srgbClr val="2C2821"/>
                </a:solidFill>
                <a:latin typeface="Lora"/>
                <a:ea typeface="Lora"/>
                <a:cs typeface="Lora"/>
                <a:sym typeface="Lora"/>
              </a:rPr>
              <a:t> CLAHE (Contrast Limited Adaptive Histogram Equalization) improved tumor visibility.</a:t>
            </a:r>
            <a:endParaRPr sz="1550">
              <a:solidFill>
                <a:schemeClr val="dk1"/>
              </a:solidFill>
              <a:latin typeface="Calibri"/>
              <a:ea typeface="Calibri"/>
              <a:cs typeface="Calibri"/>
              <a:sym typeface="Calibri"/>
            </a:endParaRPr>
          </a:p>
        </p:txBody>
      </p:sp>
      <p:sp>
        <p:nvSpPr>
          <p:cNvPr id="108" name="Google Shape;108;p4"/>
          <p:cNvSpPr/>
          <p:nvPr/>
        </p:nvSpPr>
        <p:spPr>
          <a:xfrm>
            <a:off x="8998823" y="7216973"/>
            <a:ext cx="4926568"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Normalization:</a:t>
            </a:r>
            <a:r>
              <a:rPr lang="en-US" sz="1550">
                <a:solidFill>
                  <a:srgbClr val="2C2821"/>
                </a:solidFill>
                <a:latin typeface="Lora"/>
                <a:ea typeface="Lora"/>
                <a:cs typeface="Lora"/>
                <a:sym typeface="Lora"/>
              </a:rPr>
              <a:t> Pixel values scaled to match pre-trained model expectations.</a:t>
            </a:r>
            <a:endParaRPr sz="1550">
              <a:solidFill>
                <a:schemeClr val="dk1"/>
              </a:solidFill>
              <a:latin typeface="Calibri"/>
              <a:ea typeface="Calibri"/>
              <a:cs typeface="Calibri"/>
              <a:sym typeface="Calibri"/>
            </a:endParaRPr>
          </a:p>
        </p:txBody>
      </p:sp>
      <p:pic>
        <p:nvPicPr>
          <p:cNvPr id="109" name="Google Shape;109;p4"/>
          <p:cNvPicPr preferRelativeResize="0"/>
          <p:nvPr/>
        </p:nvPicPr>
        <p:blipFill rotWithShape="1">
          <a:blip r:embed="rId3">
            <a:alphaModFix/>
          </a:blip>
          <a:srcRect b="0" l="0" r="0" t="0"/>
          <a:stretch/>
        </p:blipFill>
        <p:spPr>
          <a:xfrm>
            <a:off x="8560296" y="896245"/>
            <a:ext cx="5693843" cy="3261200"/>
          </a:xfrm>
          <a:prstGeom prst="rect">
            <a:avLst/>
          </a:prstGeom>
          <a:noFill/>
          <a:ln>
            <a:noFill/>
          </a:ln>
        </p:spPr>
      </p:pic>
      <p:sp>
        <p:nvSpPr>
          <p:cNvPr id="110" name="Google Shape;110;p4"/>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5"/>
          <p:cNvSpPr/>
          <p:nvPr/>
        </p:nvSpPr>
        <p:spPr>
          <a:xfrm>
            <a:off x="793790" y="1257181"/>
            <a:ext cx="8808958"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lang="en-US" sz="3900">
                <a:solidFill>
                  <a:srgbClr val="233E32"/>
                </a:solidFill>
                <a:latin typeface="Alice"/>
                <a:ea typeface="Alice"/>
                <a:cs typeface="Alice"/>
                <a:sym typeface="Alice"/>
              </a:rPr>
              <a:t>Image Enhancement: CLAHE Technique</a:t>
            </a:r>
            <a:endParaRPr sz="3900">
              <a:solidFill>
                <a:schemeClr val="dk1"/>
              </a:solidFill>
              <a:latin typeface="Calibri"/>
              <a:ea typeface="Calibri"/>
              <a:cs typeface="Calibri"/>
              <a:sym typeface="Calibri"/>
            </a:endParaRPr>
          </a:p>
        </p:txBody>
      </p:sp>
      <p:sp>
        <p:nvSpPr>
          <p:cNvPr id="118" name="Google Shape;118;p5"/>
          <p:cNvSpPr/>
          <p:nvPr/>
        </p:nvSpPr>
        <p:spPr>
          <a:xfrm>
            <a:off x="793790" y="2373273"/>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lang="en-US" sz="2300">
                <a:solidFill>
                  <a:srgbClr val="233E32"/>
                </a:solidFill>
                <a:latin typeface="Alice"/>
                <a:ea typeface="Alice"/>
                <a:cs typeface="Alice"/>
                <a:sym typeface="Alice"/>
              </a:rPr>
              <a:t>Why CLAHE?</a:t>
            </a:r>
            <a:endParaRPr sz="2300">
              <a:solidFill>
                <a:schemeClr val="dk1"/>
              </a:solidFill>
              <a:latin typeface="Calibri"/>
              <a:ea typeface="Calibri"/>
              <a:cs typeface="Calibri"/>
              <a:sym typeface="Calibri"/>
            </a:endParaRPr>
          </a:p>
        </p:txBody>
      </p:sp>
      <p:sp>
        <p:nvSpPr>
          <p:cNvPr id="119" name="Google Shape;119;p5"/>
          <p:cNvSpPr/>
          <p:nvPr/>
        </p:nvSpPr>
        <p:spPr>
          <a:xfrm>
            <a:off x="793790" y="2943701"/>
            <a:ext cx="5602962"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Medical images often suffer from poor contrast, making subtle tumor boundaries difficult to distinguish. CLAHE addresses this by adaptively enhancing local contrast while preventing noise amplification.</a:t>
            </a:r>
            <a:endParaRPr sz="1550">
              <a:solidFill>
                <a:schemeClr val="dk1"/>
              </a:solidFill>
              <a:latin typeface="Calibri"/>
              <a:ea typeface="Calibri"/>
              <a:cs typeface="Calibri"/>
              <a:sym typeface="Calibri"/>
            </a:endParaRPr>
          </a:p>
        </p:txBody>
      </p:sp>
      <p:sp>
        <p:nvSpPr>
          <p:cNvPr id="120" name="Google Shape;120;p5"/>
          <p:cNvSpPr/>
          <p:nvPr/>
        </p:nvSpPr>
        <p:spPr>
          <a:xfrm>
            <a:off x="793790" y="4392454"/>
            <a:ext cx="5602962"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Unlike global histogram equalization, CLAHE operates on small image regions (tiles), preserving local details crucial for tumor detection. The "contrast limited" aspect prevents over-amplification of noise in homogeneous areas.</a:t>
            </a:r>
            <a:endParaRPr sz="1550">
              <a:solidFill>
                <a:schemeClr val="dk1"/>
              </a:solidFill>
              <a:latin typeface="Calibri"/>
              <a:ea typeface="Calibri"/>
              <a:cs typeface="Calibri"/>
              <a:sym typeface="Calibri"/>
            </a:endParaRPr>
          </a:p>
        </p:txBody>
      </p:sp>
      <p:sp>
        <p:nvSpPr>
          <p:cNvPr id="121" name="Google Shape;121;p5"/>
          <p:cNvSpPr/>
          <p:nvPr/>
        </p:nvSpPr>
        <p:spPr>
          <a:xfrm>
            <a:off x="793790" y="5841206"/>
            <a:ext cx="5602962"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This preprocessing step proved essential for highlighting tumor regions, particularly for smaller or low-contrast lesions that might otherwise be overlooked.</a:t>
            </a:r>
            <a:endParaRPr sz="1550">
              <a:solidFill>
                <a:schemeClr val="dk1"/>
              </a:solidFill>
              <a:latin typeface="Calibri"/>
              <a:ea typeface="Calibri"/>
              <a:cs typeface="Calibri"/>
              <a:sym typeface="Calibri"/>
            </a:endParaRPr>
          </a:p>
        </p:txBody>
      </p:sp>
      <p:sp>
        <p:nvSpPr>
          <p:cNvPr id="122" name="Google Shape;122;p5"/>
          <p:cNvSpPr/>
          <p:nvPr/>
        </p:nvSpPr>
        <p:spPr>
          <a:xfrm>
            <a:off x="6888480" y="2098953"/>
            <a:ext cx="3370302"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lang="en-US" sz="2300">
                <a:solidFill>
                  <a:srgbClr val="233E32"/>
                </a:solidFill>
                <a:latin typeface="Alice"/>
                <a:ea typeface="Alice"/>
                <a:cs typeface="Alice"/>
                <a:sym typeface="Alice"/>
              </a:rPr>
              <a:t>Handling Data Imbalance</a:t>
            </a:r>
            <a:endParaRPr sz="2300">
              <a:solidFill>
                <a:schemeClr val="dk1"/>
              </a:solidFill>
              <a:latin typeface="Calibri"/>
              <a:ea typeface="Calibri"/>
              <a:cs typeface="Calibri"/>
              <a:sym typeface="Calibri"/>
            </a:endParaRPr>
          </a:p>
        </p:txBody>
      </p:sp>
      <p:sp>
        <p:nvSpPr>
          <p:cNvPr id="123" name="Google Shape;123;p5"/>
          <p:cNvSpPr/>
          <p:nvPr/>
        </p:nvSpPr>
        <p:spPr>
          <a:xfrm>
            <a:off x="6888480" y="2669381"/>
            <a:ext cx="695563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The dataset exhibited class imbalance, with some tumor types represented more frequently than others. To prevent model bias, we employed:</a:t>
            </a:r>
            <a:endParaRPr sz="1550">
              <a:solidFill>
                <a:schemeClr val="dk1"/>
              </a:solidFill>
              <a:latin typeface="Calibri"/>
              <a:ea typeface="Calibri"/>
              <a:cs typeface="Calibri"/>
              <a:sym typeface="Calibri"/>
            </a:endParaRPr>
          </a:p>
        </p:txBody>
      </p:sp>
      <p:sp>
        <p:nvSpPr>
          <p:cNvPr id="124" name="Google Shape;124;p5"/>
          <p:cNvSpPr/>
          <p:nvPr/>
        </p:nvSpPr>
        <p:spPr>
          <a:xfrm>
            <a:off x="6888480" y="3340814"/>
            <a:ext cx="6955631" cy="2044065"/>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2821"/>
              </a:buClr>
              <a:buSzPts val="1550"/>
              <a:buFont typeface="Lora"/>
              <a:buChar char="•"/>
            </a:pPr>
            <a:r>
              <a:rPr b="1" lang="en-US" sz="1550">
                <a:solidFill>
                  <a:srgbClr val="2C2821"/>
                </a:solidFill>
                <a:latin typeface="Lora"/>
                <a:ea typeface="Lora"/>
                <a:cs typeface="Lora"/>
                <a:sym typeface="Lora"/>
              </a:rPr>
              <a:t>Class weights:</a:t>
            </a:r>
            <a:r>
              <a:rPr lang="en-US" sz="1550">
                <a:solidFill>
                  <a:srgbClr val="2C2821"/>
                </a:solidFill>
                <a:latin typeface="Lora"/>
                <a:ea typeface="Lora"/>
                <a:cs typeface="Lora"/>
                <a:sym typeface="Lora"/>
              </a:rPr>
              <a:t> Adjusting loss function to penalize misclassification of underrepresented classes more heavily</a:t>
            </a:r>
            <a:endParaRPr sz="1550">
              <a:solidFill>
                <a:schemeClr val="dk1"/>
              </a:solidFill>
              <a:latin typeface="Calibri"/>
              <a:ea typeface="Calibri"/>
              <a:cs typeface="Calibri"/>
              <a:sym typeface="Calibri"/>
            </a:endParaRPr>
          </a:p>
          <a:p>
            <a:pPr indent="-342900" lvl="0" marL="342900" marR="0" rtl="0" algn="l">
              <a:lnSpc>
                <a:spcPct val="161290"/>
              </a:lnSpc>
              <a:spcBef>
                <a:spcPts val="0"/>
              </a:spcBef>
              <a:spcAft>
                <a:spcPts val="0"/>
              </a:spcAft>
              <a:buClr>
                <a:srgbClr val="2C2821"/>
              </a:buClr>
              <a:buSzPts val="1550"/>
              <a:buFont typeface="Lora"/>
              <a:buChar char="•"/>
            </a:pPr>
            <a:r>
              <a:rPr b="1" lang="en-US" sz="1550">
                <a:solidFill>
                  <a:srgbClr val="2C2821"/>
                </a:solidFill>
                <a:latin typeface="Lora"/>
                <a:ea typeface="Lora"/>
                <a:cs typeface="Lora"/>
                <a:sym typeface="Lora"/>
              </a:rPr>
              <a:t>Data augmentation:</a:t>
            </a:r>
            <a:r>
              <a:rPr lang="en-US" sz="1550">
                <a:solidFill>
                  <a:srgbClr val="2C2821"/>
                </a:solidFill>
                <a:latin typeface="Lora"/>
                <a:ea typeface="Lora"/>
                <a:cs typeface="Lora"/>
                <a:sym typeface="Lora"/>
              </a:rPr>
              <a:t> Applying random transformations (flips, rotations, zooms) to artificially expand minority classes</a:t>
            </a:r>
            <a:endParaRPr sz="1550">
              <a:solidFill>
                <a:schemeClr val="dk1"/>
              </a:solidFill>
              <a:latin typeface="Calibri"/>
              <a:ea typeface="Calibri"/>
              <a:cs typeface="Calibri"/>
              <a:sym typeface="Calibri"/>
            </a:endParaRPr>
          </a:p>
          <a:p>
            <a:pPr indent="-342900" lvl="0" marL="342900" marR="0" rtl="0" algn="l">
              <a:lnSpc>
                <a:spcPct val="161290"/>
              </a:lnSpc>
              <a:spcBef>
                <a:spcPts val="0"/>
              </a:spcBef>
              <a:spcAft>
                <a:spcPts val="0"/>
              </a:spcAft>
              <a:buClr>
                <a:srgbClr val="2C2821"/>
              </a:buClr>
              <a:buSzPts val="1550"/>
              <a:buFont typeface="Lora"/>
              <a:buChar char="•"/>
            </a:pPr>
            <a:r>
              <a:rPr b="1" lang="en-US" sz="1550">
                <a:solidFill>
                  <a:srgbClr val="2C2821"/>
                </a:solidFill>
                <a:latin typeface="Lora"/>
                <a:ea typeface="Lora"/>
                <a:cs typeface="Lora"/>
                <a:sym typeface="Lora"/>
              </a:rPr>
              <a:t>Stratified sampling:</a:t>
            </a:r>
            <a:r>
              <a:rPr lang="en-US" sz="1550">
                <a:solidFill>
                  <a:srgbClr val="2C2821"/>
                </a:solidFill>
                <a:latin typeface="Lora"/>
                <a:ea typeface="Lora"/>
                <a:cs typeface="Lora"/>
                <a:sym typeface="Lora"/>
              </a:rPr>
              <a:t> Ensuring balanced representation in each training batch</a:t>
            </a:r>
            <a:endParaRPr sz="1550">
              <a:solidFill>
                <a:schemeClr val="dk1"/>
              </a:solidFill>
              <a:latin typeface="Calibri"/>
              <a:ea typeface="Calibri"/>
              <a:cs typeface="Calibri"/>
              <a:sym typeface="Calibri"/>
            </a:endParaRPr>
          </a:p>
        </p:txBody>
      </p:sp>
      <p:pic>
        <p:nvPicPr>
          <p:cNvPr id="125" name="Google Shape;125;p5"/>
          <p:cNvPicPr preferRelativeResize="0"/>
          <p:nvPr/>
        </p:nvPicPr>
        <p:blipFill rotWithShape="1">
          <a:blip r:embed="rId3">
            <a:alphaModFix/>
          </a:blip>
          <a:srcRect b="0" l="0" r="0" t="0"/>
          <a:stretch/>
        </p:blipFill>
        <p:spPr>
          <a:xfrm>
            <a:off x="7122519" y="5210175"/>
            <a:ext cx="6487551" cy="30192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p:nvPr/>
        </p:nvSpPr>
        <p:spPr>
          <a:xfrm>
            <a:off x="793790" y="561499"/>
            <a:ext cx="7784425"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lang="en-US" sz="3900">
                <a:solidFill>
                  <a:srgbClr val="233E32"/>
                </a:solidFill>
                <a:latin typeface="Alice"/>
                <a:ea typeface="Alice"/>
                <a:cs typeface="Alice"/>
                <a:sym typeface="Alice"/>
              </a:rPr>
              <a:t>Model Architecture: EfficientNetB0</a:t>
            </a:r>
            <a:endParaRPr sz="3900">
              <a:solidFill>
                <a:schemeClr val="dk1"/>
              </a:solidFill>
              <a:latin typeface="Calibri"/>
              <a:ea typeface="Calibri"/>
              <a:cs typeface="Calibri"/>
              <a:sym typeface="Calibri"/>
            </a:endParaRPr>
          </a:p>
        </p:txBody>
      </p:sp>
      <p:sp>
        <p:nvSpPr>
          <p:cNvPr id="132" name="Google Shape;132;p6"/>
          <p:cNvSpPr/>
          <p:nvPr/>
        </p:nvSpPr>
        <p:spPr>
          <a:xfrm>
            <a:off x="793790" y="4252079"/>
            <a:ext cx="2605087"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Pre-trained Foundation</a:t>
            </a:r>
            <a:endParaRPr sz="1950">
              <a:solidFill>
                <a:schemeClr val="dk1"/>
              </a:solidFill>
              <a:latin typeface="Calibri"/>
              <a:ea typeface="Calibri"/>
              <a:cs typeface="Calibri"/>
              <a:sym typeface="Calibri"/>
            </a:endParaRPr>
          </a:p>
        </p:txBody>
      </p:sp>
      <p:sp>
        <p:nvSpPr>
          <p:cNvPr id="133" name="Google Shape;133;p6"/>
          <p:cNvSpPr/>
          <p:nvPr/>
        </p:nvSpPr>
        <p:spPr>
          <a:xfrm>
            <a:off x="793790" y="4681299"/>
            <a:ext cx="4182189"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EfficientNetB0 leverages ImageNet pre-training, transferring knowledge from millions of natural images to medical domain.</a:t>
            </a:r>
            <a:endParaRPr sz="1550">
              <a:solidFill>
                <a:schemeClr val="dk1"/>
              </a:solidFill>
              <a:latin typeface="Calibri"/>
              <a:ea typeface="Calibri"/>
              <a:cs typeface="Calibri"/>
              <a:sym typeface="Calibri"/>
            </a:endParaRPr>
          </a:p>
        </p:txBody>
      </p:sp>
      <p:sp>
        <p:nvSpPr>
          <p:cNvPr id="134" name="Google Shape;134;p6"/>
          <p:cNvSpPr/>
          <p:nvPr/>
        </p:nvSpPr>
        <p:spPr>
          <a:xfrm>
            <a:off x="5223986" y="425207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Compound Scaling</a:t>
            </a:r>
            <a:endParaRPr sz="1950">
              <a:solidFill>
                <a:schemeClr val="dk1"/>
              </a:solidFill>
              <a:latin typeface="Calibri"/>
              <a:ea typeface="Calibri"/>
              <a:cs typeface="Calibri"/>
              <a:sym typeface="Calibri"/>
            </a:endParaRPr>
          </a:p>
        </p:txBody>
      </p:sp>
      <p:sp>
        <p:nvSpPr>
          <p:cNvPr id="135" name="Google Shape;135;p6"/>
          <p:cNvSpPr/>
          <p:nvPr/>
        </p:nvSpPr>
        <p:spPr>
          <a:xfrm>
            <a:off x="5223986" y="4681299"/>
            <a:ext cx="4182308"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Balances network depth, width, and resolution systematically, achieving optimal accuracy with minimal parameters.</a:t>
            </a:r>
            <a:endParaRPr sz="1550">
              <a:solidFill>
                <a:schemeClr val="dk1"/>
              </a:solidFill>
              <a:latin typeface="Calibri"/>
              <a:ea typeface="Calibri"/>
              <a:cs typeface="Calibri"/>
              <a:sym typeface="Calibri"/>
            </a:endParaRPr>
          </a:p>
        </p:txBody>
      </p:sp>
      <p:sp>
        <p:nvSpPr>
          <p:cNvPr id="136" name="Google Shape;136;p6"/>
          <p:cNvSpPr/>
          <p:nvPr/>
        </p:nvSpPr>
        <p:spPr>
          <a:xfrm>
            <a:off x="9654302" y="425207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Parameter Efficiency</a:t>
            </a:r>
            <a:endParaRPr sz="1950">
              <a:solidFill>
                <a:schemeClr val="dk1"/>
              </a:solidFill>
              <a:latin typeface="Calibri"/>
              <a:ea typeface="Calibri"/>
              <a:cs typeface="Calibri"/>
              <a:sym typeface="Calibri"/>
            </a:endParaRPr>
          </a:p>
        </p:txBody>
      </p:sp>
      <p:sp>
        <p:nvSpPr>
          <p:cNvPr id="137" name="Google Shape;137;p6"/>
          <p:cNvSpPr/>
          <p:nvPr/>
        </p:nvSpPr>
        <p:spPr>
          <a:xfrm>
            <a:off x="9654302" y="4681299"/>
            <a:ext cx="4182308"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~4.38M total parameters with only ~0.33M trainable weights, enabling fast training and deployment.</a:t>
            </a:r>
            <a:endParaRPr sz="1550">
              <a:solidFill>
                <a:schemeClr val="dk1"/>
              </a:solidFill>
              <a:latin typeface="Calibri"/>
              <a:ea typeface="Calibri"/>
              <a:cs typeface="Calibri"/>
              <a:sym typeface="Calibri"/>
            </a:endParaRPr>
          </a:p>
        </p:txBody>
      </p:sp>
      <p:sp>
        <p:nvSpPr>
          <p:cNvPr id="138" name="Google Shape;138;p6"/>
          <p:cNvSpPr/>
          <p:nvPr/>
        </p:nvSpPr>
        <p:spPr>
          <a:xfrm>
            <a:off x="793790" y="5857161"/>
            <a:ext cx="1304282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EfficientNet represents a breakthrough in neural network design, using neural architecture search to identify optimal scaling coefficients. Compared to previous models like ResNet or VGG, EfficientNet achieves higher accuracy with significantly fewer parameters, making it ideal for resource-constrained medical applications.</a:t>
            </a:r>
            <a:endParaRPr sz="1550">
              <a:solidFill>
                <a:schemeClr val="dk1"/>
              </a:solidFill>
              <a:latin typeface="Calibri"/>
              <a:ea typeface="Calibri"/>
              <a:cs typeface="Calibri"/>
              <a:sym typeface="Calibri"/>
            </a:endParaRPr>
          </a:p>
        </p:txBody>
      </p:sp>
      <p:sp>
        <p:nvSpPr>
          <p:cNvPr id="139" name="Google Shape;139;p6"/>
          <p:cNvSpPr/>
          <p:nvPr/>
        </p:nvSpPr>
        <p:spPr>
          <a:xfrm>
            <a:off x="793790" y="7033022"/>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The model's architecture includes compound scaling that uniformly increases depth (layers), width (channels), and resolution, unlike prior approaches that scaled only one dimension. This balanced approach maximizes accuracy while minimizing computational cost.</a:t>
            </a:r>
            <a:endParaRPr sz="1550">
              <a:solidFill>
                <a:schemeClr val="dk1"/>
              </a:solidFill>
              <a:latin typeface="Calibri"/>
              <a:ea typeface="Calibri"/>
              <a:cs typeface="Calibri"/>
              <a:sym typeface="Calibri"/>
            </a:endParaRPr>
          </a:p>
        </p:txBody>
      </p:sp>
      <p:pic>
        <p:nvPicPr>
          <p:cNvPr descr="EfficientNetB0 Baseline Model Architecture [14]. | Download Scientific  Diagram" id="140" name="Google Shape;140;p6"/>
          <p:cNvPicPr preferRelativeResize="0"/>
          <p:nvPr/>
        </p:nvPicPr>
        <p:blipFill rotWithShape="1">
          <a:blip r:embed="rId3">
            <a:alphaModFix/>
          </a:blip>
          <a:srcRect b="0" l="0" r="0" t="0"/>
          <a:stretch/>
        </p:blipFill>
        <p:spPr>
          <a:xfrm>
            <a:off x="793789" y="1446092"/>
            <a:ext cx="12334287" cy="2290643"/>
          </a:xfrm>
          <a:prstGeom prst="rect">
            <a:avLst/>
          </a:prstGeom>
          <a:noFill/>
          <a:ln>
            <a:noFill/>
          </a:ln>
        </p:spPr>
      </p:pic>
      <p:sp>
        <p:nvSpPr>
          <p:cNvPr id="141" name="Google Shape;141;p6"/>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p:nvPr/>
        </p:nvSpPr>
        <p:spPr>
          <a:xfrm>
            <a:off x="793790" y="1237536"/>
            <a:ext cx="6260306"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lang="en-US" sz="3900">
                <a:solidFill>
                  <a:srgbClr val="233E32"/>
                </a:solidFill>
                <a:latin typeface="Alice"/>
                <a:ea typeface="Alice"/>
                <a:cs typeface="Alice"/>
                <a:sym typeface="Alice"/>
              </a:rPr>
              <a:t>Detailed Model Architecture</a:t>
            </a:r>
            <a:endParaRPr sz="3900">
              <a:solidFill>
                <a:schemeClr val="dk1"/>
              </a:solidFill>
              <a:latin typeface="Calibri"/>
              <a:ea typeface="Calibri"/>
              <a:cs typeface="Calibri"/>
              <a:sym typeface="Calibri"/>
            </a:endParaRPr>
          </a:p>
        </p:txBody>
      </p:sp>
      <p:pic>
        <p:nvPicPr>
          <p:cNvPr descr="preencoded.png" id="148" name="Google Shape;148;p7"/>
          <p:cNvPicPr preferRelativeResize="0"/>
          <p:nvPr/>
        </p:nvPicPr>
        <p:blipFill rotWithShape="1">
          <a:blip r:embed="rId3">
            <a:alphaModFix/>
          </a:blip>
          <a:srcRect b="0" l="0" r="0" t="0"/>
          <a:stretch/>
        </p:blipFill>
        <p:spPr>
          <a:xfrm>
            <a:off x="1002625" y="2254448"/>
            <a:ext cx="12625030" cy="4737497"/>
          </a:xfrm>
          <a:prstGeom prst="rect">
            <a:avLst/>
          </a:prstGeom>
          <a:noFill/>
          <a:ln>
            <a:noFill/>
          </a:ln>
        </p:spPr>
      </p:pic>
      <p:pic>
        <p:nvPicPr>
          <p:cNvPr descr="preencoded.png" id="149" name="Google Shape;149;p7"/>
          <p:cNvPicPr preferRelativeResize="0"/>
          <p:nvPr/>
        </p:nvPicPr>
        <p:blipFill rotWithShape="1">
          <a:blip r:embed="rId4">
            <a:alphaModFix/>
          </a:blip>
          <a:srcRect b="0" l="0" r="0" t="0"/>
          <a:stretch/>
        </p:blipFill>
        <p:spPr>
          <a:xfrm>
            <a:off x="11784546" y="3461174"/>
            <a:ext cx="652135" cy="652135"/>
          </a:xfrm>
          <a:prstGeom prst="rect">
            <a:avLst/>
          </a:prstGeom>
          <a:noFill/>
          <a:ln>
            <a:noFill/>
          </a:ln>
        </p:spPr>
      </p:pic>
      <p:sp>
        <p:nvSpPr>
          <p:cNvPr id="150" name="Google Shape;150;p7"/>
          <p:cNvSpPr/>
          <p:nvPr/>
        </p:nvSpPr>
        <p:spPr>
          <a:xfrm>
            <a:off x="11203535" y="5658461"/>
            <a:ext cx="1904234" cy="733652"/>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C2821"/>
              </a:buClr>
              <a:buSzPts val="2300"/>
              <a:buFont typeface="Alice"/>
              <a:buNone/>
            </a:pPr>
            <a:r>
              <a:rPr lang="en-US" sz="2300">
                <a:solidFill>
                  <a:srgbClr val="2C2821"/>
                </a:solidFill>
                <a:latin typeface="Alice"/>
                <a:ea typeface="Alice"/>
                <a:cs typeface="Alice"/>
                <a:sym typeface="Alice"/>
              </a:rPr>
              <a:t>Dense Classifier</a:t>
            </a:r>
            <a:endParaRPr sz="2300">
              <a:solidFill>
                <a:schemeClr val="dk1"/>
              </a:solidFill>
              <a:latin typeface="Calibri"/>
              <a:ea typeface="Calibri"/>
              <a:cs typeface="Calibri"/>
              <a:sym typeface="Calibri"/>
            </a:endParaRPr>
          </a:p>
        </p:txBody>
      </p:sp>
      <p:pic>
        <p:nvPicPr>
          <p:cNvPr descr="preencoded.png" id="151" name="Google Shape;151;p7"/>
          <p:cNvPicPr preferRelativeResize="0"/>
          <p:nvPr/>
        </p:nvPicPr>
        <p:blipFill rotWithShape="1">
          <a:blip r:embed="rId4">
            <a:alphaModFix/>
          </a:blip>
          <a:srcRect b="0" l="0" r="0" t="0"/>
          <a:stretch/>
        </p:blipFill>
        <p:spPr>
          <a:xfrm>
            <a:off x="9397120" y="3462397"/>
            <a:ext cx="652135" cy="652135"/>
          </a:xfrm>
          <a:prstGeom prst="rect">
            <a:avLst/>
          </a:prstGeom>
          <a:noFill/>
          <a:ln>
            <a:noFill/>
          </a:ln>
        </p:spPr>
      </p:pic>
      <p:sp>
        <p:nvSpPr>
          <p:cNvPr id="152" name="Google Shape;152;p7"/>
          <p:cNvSpPr/>
          <p:nvPr/>
        </p:nvSpPr>
        <p:spPr>
          <a:xfrm>
            <a:off x="8803678" y="5658461"/>
            <a:ext cx="1904234" cy="733652"/>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C2821"/>
              </a:buClr>
              <a:buSzPts val="2300"/>
              <a:buFont typeface="Alice"/>
              <a:buNone/>
            </a:pPr>
            <a:r>
              <a:rPr lang="en-US" sz="2300">
                <a:solidFill>
                  <a:srgbClr val="2C2821"/>
                </a:solidFill>
                <a:latin typeface="Alice"/>
                <a:ea typeface="Alice"/>
                <a:cs typeface="Alice"/>
                <a:sym typeface="Alice"/>
              </a:rPr>
              <a:t>Global Avg Pooling</a:t>
            </a:r>
            <a:endParaRPr sz="2300">
              <a:solidFill>
                <a:schemeClr val="dk1"/>
              </a:solidFill>
              <a:latin typeface="Calibri"/>
              <a:ea typeface="Calibri"/>
              <a:cs typeface="Calibri"/>
              <a:sym typeface="Calibri"/>
            </a:endParaRPr>
          </a:p>
        </p:txBody>
      </p:sp>
      <p:pic>
        <p:nvPicPr>
          <p:cNvPr descr="preencoded.png" id="153" name="Google Shape;153;p7"/>
          <p:cNvPicPr preferRelativeResize="0"/>
          <p:nvPr/>
        </p:nvPicPr>
        <p:blipFill rotWithShape="1">
          <a:blip r:embed="rId4">
            <a:alphaModFix/>
          </a:blip>
          <a:srcRect b="0" l="0" r="0" t="0"/>
          <a:stretch/>
        </p:blipFill>
        <p:spPr>
          <a:xfrm>
            <a:off x="7010307" y="3462397"/>
            <a:ext cx="652135" cy="652135"/>
          </a:xfrm>
          <a:prstGeom prst="rect">
            <a:avLst/>
          </a:prstGeom>
          <a:noFill/>
          <a:ln>
            <a:noFill/>
          </a:ln>
        </p:spPr>
      </p:pic>
      <p:sp>
        <p:nvSpPr>
          <p:cNvPr id="154" name="Google Shape;154;p7"/>
          <p:cNvSpPr/>
          <p:nvPr/>
        </p:nvSpPr>
        <p:spPr>
          <a:xfrm>
            <a:off x="6416864" y="5658461"/>
            <a:ext cx="1904234" cy="733652"/>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C2821"/>
              </a:buClr>
              <a:buSzPts val="2300"/>
              <a:buFont typeface="Alice"/>
              <a:buNone/>
            </a:pPr>
            <a:r>
              <a:rPr lang="en-US" sz="2300">
                <a:solidFill>
                  <a:srgbClr val="2C2821"/>
                </a:solidFill>
                <a:latin typeface="Alice"/>
                <a:ea typeface="Alice"/>
                <a:cs typeface="Alice"/>
                <a:sym typeface="Alice"/>
              </a:rPr>
              <a:t>EfficientNetB0</a:t>
            </a:r>
            <a:endParaRPr sz="2300">
              <a:solidFill>
                <a:schemeClr val="dk1"/>
              </a:solidFill>
              <a:latin typeface="Calibri"/>
              <a:ea typeface="Calibri"/>
              <a:cs typeface="Calibri"/>
              <a:sym typeface="Calibri"/>
            </a:endParaRPr>
          </a:p>
        </p:txBody>
      </p:sp>
      <p:pic>
        <p:nvPicPr>
          <p:cNvPr descr="preencoded.png" id="155" name="Google Shape;155;p7"/>
          <p:cNvPicPr preferRelativeResize="0"/>
          <p:nvPr/>
        </p:nvPicPr>
        <p:blipFill rotWithShape="1">
          <a:blip r:embed="rId4">
            <a:alphaModFix/>
          </a:blip>
          <a:srcRect b="0" l="0" r="0" t="0"/>
          <a:stretch/>
        </p:blipFill>
        <p:spPr>
          <a:xfrm>
            <a:off x="4623493" y="3462397"/>
            <a:ext cx="652135" cy="652135"/>
          </a:xfrm>
          <a:prstGeom prst="rect">
            <a:avLst/>
          </a:prstGeom>
          <a:noFill/>
          <a:ln>
            <a:noFill/>
          </a:ln>
        </p:spPr>
      </p:pic>
      <p:sp>
        <p:nvSpPr>
          <p:cNvPr id="156" name="Google Shape;156;p7"/>
          <p:cNvSpPr/>
          <p:nvPr/>
        </p:nvSpPr>
        <p:spPr>
          <a:xfrm>
            <a:off x="4030050" y="5658461"/>
            <a:ext cx="1904234" cy="733652"/>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C2821"/>
              </a:buClr>
              <a:buSzPts val="2300"/>
              <a:buFont typeface="Alice"/>
              <a:buNone/>
            </a:pPr>
            <a:r>
              <a:rPr lang="en-US" sz="2300">
                <a:solidFill>
                  <a:srgbClr val="2C2821"/>
                </a:solidFill>
                <a:latin typeface="Alice"/>
                <a:ea typeface="Alice"/>
                <a:cs typeface="Alice"/>
                <a:sym typeface="Alice"/>
              </a:rPr>
              <a:t>Data Augmentation</a:t>
            </a:r>
            <a:endParaRPr sz="2300">
              <a:solidFill>
                <a:schemeClr val="dk1"/>
              </a:solidFill>
              <a:latin typeface="Calibri"/>
              <a:ea typeface="Calibri"/>
              <a:cs typeface="Calibri"/>
              <a:sym typeface="Calibri"/>
            </a:endParaRPr>
          </a:p>
        </p:txBody>
      </p:sp>
      <p:pic>
        <p:nvPicPr>
          <p:cNvPr descr="preencoded.png" id="157" name="Google Shape;157;p7"/>
          <p:cNvPicPr preferRelativeResize="0"/>
          <p:nvPr/>
        </p:nvPicPr>
        <p:blipFill rotWithShape="1">
          <a:blip r:embed="rId4">
            <a:alphaModFix/>
          </a:blip>
          <a:srcRect b="0" l="0" r="0" t="0"/>
          <a:stretch/>
        </p:blipFill>
        <p:spPr>
          <a:xfrm>
            <a:off x="2223636" y="3462397"/>
            <a:ext cx="652135" cy="652135"/>
          </a:xfrm>
          <a:prstGeom prst="rect">
            <a:avLst/>
          </a:prstGeom>
          <a:noFill/>
          <a:ln>
            <a:noFill/>
          </a:ln>
        </p:spPr>
      </p:pic>
      <p:sp>
        <p:nvSpPr>
          <p:cNvPr id="158" name="Google Shape;158;p7"/>
          <p:cNvSpPr/>
          <p:nvPr/>
        </p:nvSpPr>
        <p:spPr>
          <a:xfrm>
            <a:off x="1591065" y="5841874"/>
            <a:ext cx="1904234" cy="366826"/>
          </a:xfrm>
          <a:prstGeom prst="rect">
            <a:avLst/>
          </a:prstGeom>
          <a:noFill/>
          <a:ln>
            <a:noFill/>
          </a:ln>
        </p:spPr>
        <p:txBody>
          <a:bodyPr anchorCtr="0" anchor="t" bIns="0" lIns="0" spcFirstLastPara="1" rIns="0" wrap="square" tIns="0">
            <a:noAutofit/>
          </a:bodyPr>
          <a:lstStyle/>
          <a:p>
            <a:pPr indent="0" lvl="0" marL="0" marR="0" rtl="0" algn="ctr">
              <a:lnSpc>
                <a:spcPct val="123913"/>
              </a:lnSpc>
              <a:spcBef>
                <a:spcPts val="0"/>
              </a:spcBef>
              <a:spcAft>
                <a:spcPts val="0"/>
              </a:spcAft>
              <a:buClr>
                <a:srgbClr val="2C2821"/>
              </a:buClr>
              <a:buSzPts val="2300"/>
              <a:buFont typeface="Alice"/>
              <a:buNone/>
            </a:pPr>
            <a:r>
              <a:rPr lang="en-US" sz="2300">
                <a:solidFill>
                  <a:srgbClr val="2C2821"/>
                </a:solidFill>
                <a:latin typeface="Alice"/>
                <a:ea typeface="Alice"/>
                <a:cs typeface="Alice"/>
                <a:sym typeface="Alice"/>
              </a:rPr>
              <a:t>Input Images</a:t>
            </a:r>
            <a:endParaRPr sz="2300">
              <a:solidFill>
                <a:schemeClr val="dk1"/>
              </a:solidFill>
              <a:latin typeface="Calibri"/>
              <a:ea typeface="Calibri"/>
              <a:cs typeface="Calibri"/>
              <a:sym typeface="Calibri"/>
            </a:endParaRPr>
          </a:p>
        </p:txBody>
      </p:sp>
      <p:sp>
        <p:nvSpPr>
          <p:cNvPr id="159" name="Google Shape;159;p7"/>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p:nvPr/>
        </p:nvSpPr>
        <p:spPr>
          <a:xfrm>
            <a:off x="3591268" y="548599"/>
            <a:ext cx="6718800" cy="552600"/>
          </a:xfrm>
          <a:prstGeom prst="rect">
            <a:avLst/>
          </a:prstGeom>
          <a:noFill/>
          <a:ln>
            <a:noFill/>
          </a:ln>
        </p:spPr>
        <p:txBody>
          <a:bodyPr anchorCtr="0" anchor="t" bIns="0" lIns="0" spcFirstLastPara="1" rIns="0" wrap="square" tIns="0">
            <a:noAutofit/>
          </a:bodyPr>
          <a:lstStyle/>
          <a:p>
            <a:pPr indent="0" lvl="0" marL="0" marR="0" rtl="0" algn="l">
              <a:lnSpc>
                <a:spcPct val="124637"/>
              </a:lnSpc>
              <a:spcBef>
                <a:spcPts val="0"/>
              </a:spcBef>
              <a:spcAft>
                <a:spcPts val="0"/>
              </a:spcAft>
              <a:buClr>
                <a:srgbClr val="233E32"/>
              </a:buClr>
              <a:buSzPts val="3450"/>
              <a:buFont typeface="Alice"/>
              <a:buNone/>
            </a:pPr>
            <a:r>
              <a:rPr lang="en-US" sz="3450">
                <a:solidFill>
                  <a:srgbClr val="233E32"/>
                </a:solidFill>
                <a:latin typeface="Alice"/>
                <a:ea typeface="Alice"/>
                <a:cs typeface="Alice"/>
                <a:sym typeface="Alice"/>
              </a:rPr>
              <a:t>Training Performance and Results</a:t>
            </a:r>
            <a:endParaRPr sz="3450">
              <a:solidFill>
                <a:schemeClr val="dk1"/>
              </a:solidFill>
              <a:latin typeface="Calibri"/>
              <a:ea typeface="Calibri"/>
              <a:cs typeface="Calibri"/>
              <a:sym typeface="Calibri"/>
            </a:endParaRPr>
          </a:p>
        </p:txBody>
      </p:sp>
      <p:sp>
        <p:nvSpPr>
          <p:cNvPr id="166" name="Google Shape;166;p8"/>
          <p:cNvSpPr/>
          <p:nvPr/>
        </p:nvSpPr>
        <p:spPr>
          <a:xfrm>
            <a:off x="706993" y="1409819"/>
            <a:ext cx="3766661" cy="5832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550"/>
              <a:buFont typeface="Alice"/>
              <a:buNone/>
            </a:pPr>
            <a:r>
              <a:rPr lang="en-US" sz="4550">
                <a:solidFill>
                  <a:srgbClr val="2C2821"/>
                </a:solidFill>
                <a:latin typeface="Alice"/>
                <a:ea typeface="Alice"/>
                <a:cs typeface="Alice"/>
                <a:sym typeface="Alice"/>
              </a:rPr>
              <a:t>94%</a:t>
            </a:r>
            <a:endParaRPr sz="4550">
              <a:solidFill>
                <a:schemeClr val="dk1"/>
              </a:solidFill>
              <a:latin typeface="Calibri"/>
              <a:ea typeface="Calibri"/>
              <a:cs typeface="Calibri"/>
              <a:sym typeface="Calibri"/>
            </a:endParaRPr>
          </a:p>
        </p:txBody>
      </p:sp>
      <p:sp>
        <p:nvSpPr>
          <p:cNvPr id="167" name="Google Shape;167;p8"/>
          <p:cNvSpPr/>
          <p:nvPr/>
        </p:nvSpPr>
        <p:spPr>
          <a:xfrm>
            <a:off x="1443157" y="2199442"/>
            <a:ext cx="2294334" cy="276225"/>
          </a:xfrm>
          <a:prstGeom prst="rect">
            <a:avLst/>
          </a:prstGeom>
          <a:noFill/>
          <a:ln>
            <a:noFill/>
          </a:ln>
        </p:spPr>
        <p:txBody>
          <a:bodyPr anchorCtr="0" anchor="t" bIns="0" lIns="0" spcFirstLastPara="1" rIns="0" wrap="square" tIns="0">
            <a:noAutofit/>
          </a:bodyPr>
          <a:lstStyle/>
          <a:p>
            <a:pPr indent="0" lvl="0" marL="0" marR="0" rtl="0" algn="ctr">
              <a:lnSpc>
                <a:spcPct val="126470"/>
              </a:lnSpc>
              <a:spcBef>
                <a:spcPts val="0"/>
              </a:spcBef>
              <a:spcAft>
                <a:spcPts val="0"/>
              </a:spcAft>
              <a:buClr>
                <a:srgbClr val="2C2821"/>
              </a:buClr>
              <a:buSzPts val="1700"/>
              <a:buFont typeface="Alice"/>
              <a:buNone/>
            </a:pPr>
            <a:r>
              <a:rPr lang="en-US" sz="1700">
                <a:solidFill>
                  <a:srgbClr val="2C2821"/>
                </a:solidFill>
                <a:latin typeface="Alice"/>
                <a:ea typeface="Alice"/>
                <a:cs typeface="Alice"/>
                <a:sym typeface="Alice"/>
              </a:rPr>
              <a:t>Classification Accuracy</a:t>
            </a:r>
            <a:endParaRPr sz="1700">
              <a:solidFill>
                <a:schemeClr val="dk1"/>
              </a:solidFill>
              <a:latin typeface="Calibri"/>
              <a:ea typeface="Calibri"/>
              <a:cs typeface="Calibri"/>
              <a:sym typeface="Calibri"/>
            </a:endParaRPr>
          </a:p>
        </p:txBody>
      </p:sp>
      <p:sp>
        <p:nvSpPr>
          <p:cNvPr id="168" name="Google Shape;168;p8"/>
          <p:cNvSpPr/>
          <p:nvPr/>
        </p:nvSpPr>
        <p:spPr>
          <a:xfrm>
            <a:off x="706993" y="2570083"/>
            <a:ext cx="3766661" cy="802243"/>
          </a:xfrm>
          <a:prstGeom prst="rect">
            <a:avLst/>
          </a:prstGeom>
          <a:noFill/>
          <a:ln>
            <a:noFill/>
          </a:ln>
        </p:spPr>
        <p:txBody>
          <a:bodyPr anchorCtr="0" anchor="t" bIns="0" lIns="0" spcFirstLastPara="1" rIns="0" wrap="square" tIns="0">
            <a:noAutofit/>
          </a:bodyPr>
          <a:lstStyle/>
          <a:p>
            <a:pPr indent="0" lvl="0" marL="0" marR="0" rtl="0" algn="ctr">
              <a:lnSpc>
                <a:spcPct val="155555"/>
              </a:lnSpc>
              <a:spcBef>
                <a:spcPts val="0"/>
              </a:spcBef>
              <a:spcAft>
                <a:spcPts val="0"/>
              </a:spcAft>
              <a:buClr>
                <a:srgbClr val="2C2821"/>
              </a:buClr>
              <a:buSzPts val="1350"/>
              <a:buFont typeface="Lora"/>
              <a:buNone/>
            </a:pPr>
            <a:r>
              <a:rPr lang="en-US" sz="1350">
                <a:solidFill>
                  <a:srgbClr val="2C2821"/>
                </a:solidFill>
                <a:latin typeface="Lora"/>
                <a:ea typeface="Lora"/>
                <a:cs typeface="Lora"/>
                <a:sym typeface="Lora"/>
              </a:rPr>
              <a:t>Achieved 93-95% accuracy across validation set, correctly identifying tumor types in most cases</a:t>
            </a:r>
            <a:endParaRPr sz="1350">
              <a:solidFill>
                <a:schemeClr val="dk1"/>
              </a:solidFill>
              <a:latin typeface="Calibri"/>
              <a:ea typeface="Calibri"/>
              <a:cs typeface="Calibri"/>
              <a:sym typeface="Calibri"/>
            </a:endParaRPr>
          </a:p>
        </p:txBody>
      </p:sp>
      <p:sp>
        <p:nvSpPr>
          <p:cNvPr id="169" name="Google Shape;169;p8"/>
          <p:cNvSpPr/>
          <p:nvPr/>
        </p:nvSpPr>
        <p:spPr>
          <a:xfrm>
            <a:off x="4670346" y="1409819"/>
            <a:ext cx="3766661" cy="5832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550"/>
              <a:buFont typeface="Alice"/>
              <a:buNone/>
            </a:pPr>
            <a:r>
              <a:rPr lang="en-US" sz="4550">
                <a:solidFill>
                  <a:srgbClr val="2C2821"/>
                </a:solidFill>
                <a:latin typeface="Alice"/>
                <a:ea typeface="Alice"/>
                <a:cs typeface="Alice"/>
                <a:sym typeface="Alice"/>
              </a:rPr>
              <a:t>0.18</a:t>
            </a:r>
            <a:endParaRPr sz="4550">
              <a:solidFill>
                <a:schemeClr val="dk1"/>
              </a:solidFill>
              <a:latin typeface="Calibri"/>
              <a:ea typeface="Calibri"/>
              <a:cs typeface="Calibri"/>
              <a:sym typeface="Calibri"/>
            </a:endParaRPr>
          </a:p>
        </p:txBody>
      </p:sp>
      <p:sp>
        <p:nvSpPr>
          <p:cNvPr id="170" name="Google Shape;170;p8"/>
          <p:cNvSpPr/>
          <p:nvPr/>
        </p:nvSpPr>
        <p:spPr>
          <a:xfrm>
            <a:off x="5448895" y="2199442"/>
            <a:ext cx="2209562" cy="276225"/>
          </a:xfrm>
          <a:prstGeom prst="rect">
            <a:avLst/>
          </a:prstGeom>
          <a:noFill/>
          <a:ln>
            <a:noFill/>
          </a:ln>
        </p:spPr>
        <p:txBody>
          <a:bodyPr anchorCtr="0" anchor="t" bIns="0" lIns="0" spcFirstLastPara="1" rIns="0" wrap="square" tIns="0">
            <a:noAutofit/>
          </a:bodyPr>
          <a:lstStyle/>
          <a:p>
            <a:pPr indent="0" lvl="0" marL="0" marR="0" rtl="0" algn="ctr">
              <a:lnSpc>
                <a:spcPct val="126470"/>
              </a:lnSpc>
              <a:spcBef>
                <a:spcPts val="0"/>
              </a:spcBef>
              <a:spcAft>
                <a:spcPts val="0"/>
              </a:spcAft>
              <a:buClr>
                <a:srgbClr val="2C2821"/>
              </a:buClr>
              <a:buSzPts val="1700"/>
              <a:buFont typeface="Alice"/>
              <a:buNone/>
            </a:pPr>
            <a:r>
              <a:rPr lang="en-US" sz="1700">
                <a:solidFill>
                  <a:srgbClr val="2C2821"/>
                </a:solidFill>
                <a:latin typeface="Alice"/>
                <a:ea typeface="Alice"/>
                <a:cs typeface="Alice"/>
                <a:sym typeface="Alice"/>
              </a:rPr>
              <a:t>Validation Loss</a:t>
            </a:r>
            <a:endParaRPr sz="1700">
              <a:solidFill>
                <a:schemeClr val="dk1"/>
              </a:solidFill>
              <a:latin typeface="Calibri"/>
              <a:ea typeface="Calibri"/>
              <a:cs typeface="Calibri"/>
              <a:sym typeface="Calibri"/>
            </a:endParaRPr>
          </a:p>
        </p:txBody>
      </p:sp>
      <p:sp>
        <p:nvSpPr>
          <p:cNvPr id="171" name="Google Shape;171;p8"/>
          <p:cNvSpPr/>
          <p:nvPr/>
        </p:nvSpPr>
        <p:spPr>
          <a:xfrm>
            <a:off x="4670346" y="2570083"/>
            <a:ext cx="3766661" cy="534829"/>
          </a:xfrm>
          <a:prstGeom prst="rect">
            <a:avLst/>
          </a:prstGeom>
          <a:noFill/>
          <a:ln>
            <a:noFill/>
          </a:ln>
        </p:spPr>
        <p:txBody>
          <a:bodyPr anchorCtr="0" anchor="t" bIns="0" lIns="0" spcFirstLastPara="1" rIns="0" wrap="square" tIns="0">
            <a:noAutofit/>
          </a:bodyPr>
          <a:lstStyle/>
          <a:p>
            <a:pPr indent="0" lvl="0" marL="0" marR="0" rtl="0" algn="ctr">
              <a:lnSpc>
                <a:spcPct val="155555"/>
              </a:lnSpc>
              <a:spcBef>
                <a:spcPts val="0"/>
              </a:spcBef>
              <a:spcAft>
                <a:spcPts val="0"/>
              </a:spcAft>
              <a:buClr>
                <a:srgbClr val="2C2821"/>
              </a:buClr>
              <a:buSzPts val="1350"/>
              <a:buFont typeface="Lora"/>
              <a:buNone/>
            </a:pPr>
            <a:r>
              <a:rPr lang="en-US" sz="1350">
                <a:solidFill>
                  <a:srgbClr val="2C2821"/>
                </a:solidFill>
                <a:latin typeface="Lora"/>
                <a:ea typeface="Lora"/>
                <a:cs typeface="Lora"/>
                <a:sym typeface="Lora"/>
              </a:rPr>
              <a:t>Low cross-entropy loss indicates confident and correct predictions on unseen data</a:t>
            </a:r>
            <a:endParaRPr sz="1350">
              <a:solidFill>
                <a:schemeClr val="dk1"/>
              </a:solidFill>
              <a:latin typeface="Calibri"/>
              <a:ea typeface="Calibri"/>
              <a:cs typeface="Calibri"/>
              <a:sym typeface="Calibri"/>
            </a:endParaRPr>
          </a:p>
        </p:txBody>
      </p:sp>
      <p:sp>
        <p:nvSpPr>
          <p:cNvPr id="172" name="Google Shape;172;p8"/>
          <p:cNvSpPr/>
          <p:nvPr/>
        </p:nvSpPr>
        <p:spPr>
          <a:xfrm>
            <a:off x="8633699" y="1616155"/>
            <a:ext cx="3766661" cy="58328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550"/>
              <a:buFont typeface="Alice"/>
              <a:buNone/>
            </a:pPr>
            <a:r>
              <a:rPr lang="en-US" sz="4550">
                <a:solidFill>
                  <a:srgbClr val="2C2821"/>
                </a:solidFill>
                <a:latin typeface="Alice"/>
                <a:ea typeface="Alice"/>
                <a:cs typeface="Alice"/>
                <a:sym typeface="Alice"/>
              </a:rPr>
              <a:t>15</a:t>
            </a:r>
            <a:endParaRPr sz="4550">
              <a:solidFill>
                <a:schemeClr val="dk1"/>
              </a:solidFill>
              <a:latin typeface="Calibri"/>
              <a:ea typeface="Calibri"/>
              <a:cs typeface="Calibri"/>
              <a:sym typeface="Calibri"/>
            </a:endParaRPr>
          </a:p>
        </p:txBody>
      </p:sp>
      <p:sp>
        <p:nvSpPr>
          <p:cNvPr id="173" name="Google Shape;173;p8"/>
          <p:cNvSpPr/>
          <p:nvPr/>
        </p:nvSpPr>
        <p:spPr>
          <a:xfrm>
            <a:off x="9369861" y="2199441"/>
            <a:ext cx="2209562" cy="276225"/>
          </a:xfrm>
          <a:prstGeom prst="rect">
            <a:avLst/>
          </a:prstGeom>
          <a:noFill/>
          <a:ln>
            <a:noFill/>
          </a:ln>
        </p:spPr>
        <p:txBody>
          <a:bodyPr anchorCtr="0" anchor="t" bIns="0" lIns="0" spcFirstLastPara="1" rIns="0" wrap="square" tIns="0">
            <a:noAutofit/>
          </a:bodyPr>
          <a:lstStyle/>
          <a:p>
            <a:pPr indent="0" lvl="0" marL="0" marR="0" rtl="0" algn="ctr">
              <a:lnSpc>
                <a:spcPct val="126470"/>
              </a:lnSpc>
              <a:spcBef>
                <a:spcPts val="0"/>
              </a:spcBef>
              <a:spcAft>
                <a:spcPts val="0"/>
              </a:spcAft>
              <a:buClr>
                <a:srgbClr val="2C2821"/>
              </a:buClr>
              <a:buSzPts val="1700"/>
              <a:buFont typeface="Alice"/>
              <a:buNone/>
            </a:pPr>
            <a:r>
              <a:rPr lang="en-US" sz="1700">
                <a:solidFill>
                  <a:srgbClr val="2C2821"/>
                </a:solidFill>
                <a:latin typeface="Alice"/>
                <a:ea typeface="Alice"/>
                <a:cs typeface="Alice"/>
                <a:sym typeface="Alice"/>
              </a:rPr>
              <a:t>Training Epochs</a:t>
            </a:r>
            <a:endParaRPr sz="1700">
              <a:solidFill>
                <a:schemeClr val="dk1"/>
              </a:solidFill>
              <a:latin typeface="Calibri"/>
              <a:ea typeface="Calibri"/>
              <a:cs typeface="Calibri"/>
              <a:sym typeface="Calibri"/>
            </a:endParaRPr>
          </a:p>
        </p:txBody>
      </p:sp>
      <p:sp>
        <p:nvSpPr>
          <p:cNvPr id="174" name="Google Shape;174;p8"/>
          <p:cNvSpPr/>
          <p:nvPr/>
        </p:nvSpPr>
        <p:spPr>
          <a:xfrm>
            <a:off x="8591311" y="2570083"/>
            <a:ext cx="3766661" cy="534829"/>
          </a:xfrm>
          <a:prstGeom prst="rect">
            <a:avLst/>
          </a:prstGeom>
          <a:noFill/>
          <a:ln>
            <a:noFill/>
          </a:ln>
        </p:spPr>
        <p:txBody>
          <a:bodyPr anchorCtr="0" anchor="t" bIns="0" lIns="0" spcFirstLastPara="1" rIns="0" wrap="square" tIns="0">
            <a:noAutofit/>
          </a:bodyPr>
          <a:lstStyle/>
          <a:p>
            <a:pPr indent="0" lvl="0" marL="0" marR="0" rtl="0" algn="ctr">
              <a:lnSpc>
                <a:spcPct val="155555"/>
              </a:lnSpc>
              <a:spcBef>
                <a:spcPts val="0"/>
              </a:spcBef>
              <a:spcAft>
                <a:spcPts val="0"/>
              </a:spcAft>
              <a:buClr>
                <a:srgbClr val="2C2821"/>
              </a:buClr>
              <a:buSzPts val="1350"/>
              <a:buFont typeface="Lora"/>
              <a:buNone/>
            </a:pPr>
            <a:r>
              <a:rPr lang="en-US" sz="1350">
                <a:solidFill>
                  <a:srgbClr val="2C2821"/>
                </a:solidFill>
                <a:latin typeface="Lora"/>
                <a:ea typeface="Lora"/>
                <a:cs typeface="Lora"/>
                <a:sym typeface="Lora"/>
              </a:rPr>
              <a:t>Converged within reasonable time using early stopping to prevent overfitting</a:t>
            </a:r>
            <a:endParaRPr sz="1350">
              <a:solidFill>
                <a:schemeClr val="dk1"/>
              </a:solidFill>
              <a:latin typeface="Calibri"/>
              <a:ea typeface="Calibri"/>
              <a:cs typeface="Calibri"/>
              <a:sym typeface="Calibri"/>
            </a:endParaRPr>
          </a:p>
        </p:txBody>
      </p:sp>
      <p:sp>
        <p:nvSpPr>
          <p:cNvPr id="175" name="Google Shape;175;p8"/>
          <p:cNvSpPr/>
          <p:nvPr/>
        </p:nvSpPr>
        <p:spPr>
          <a:xfrm>
            <a:off x="9095540" y="3221275"/>
            <a:ext cx="3224927" cy="3198773"/>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C2821"/>
              </a:buClr>
              <a:buSzPts val="1350"/>
              <a:buFont typeface="Lora"/>
              <a:buNone/>
            </a:pPr>
            <a:r>
              <a:rPr lang="en-US" sz="1350">
                <a:solidFill>
                  <a:srgbClr val="2C2821"/>
                </a:solidFill>
                <a:latin typeface="Lora"/>
                <a:ea typeface="Lora"/>
                <a:cs typeface="Lora"/>
                <a:sym typeface="Lora"/>
              </a:rPr>
              <a:t>The model demonstrated stable training dynamics with validation accuracy tracking closely alongside training accuracy, indicating good generalization. Training curves showed consistent improvement without signs of overfitting, and early stopping prevented unnecessary computation while capturing optimal model weights.</a:t>
            </a:r>
            <a:endParaRPr sz="1350">
              <a:solidFill>
                <a:schemeClr val="dk1"/>
              </a:solidFill>
              <a:latin typeface="Calibri"/>
              <a:ea typeface="Calibri"/>
              <a:cs typeface="Calibri"/>
              <a:sym typeface="Calibri"/>
            </a:endParaRPr>
          </a:p>
        </p:txBody>
      </p:sp>
      <p:sp>
        <p:nvSpPr>
          <p:cNvPr id="176" name="Google Shape;176;p8"/>
          <p:cNvSpPr/>
          <p:nvPr/>
        </p:nvSpPr>
        <p:spPr>
          <a:xfrm>
            <a:off x="706993" y="6894314"/>
            <a:ext cx="7730014" cy="802243"/>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2C2821"/>
              </a:buClr>
              <a:buSzPts val="1350"/>
              <a:buFont typeface="Lora"/>
              <a:buNone/>
            </a:pPr>
            <a:r>
              <a:rPr lang="en-US" sz="1350">
                <a:solidFill>
                  <a:srgbClr val="2C2821"/>
                </a:solidFill>
                <a:latin typeface="Lora"/>
                <a:ea typeface="Lora"/>
                <a:cs typeface="Lora"/>
                <a:sym typeface="Lora"/>
              </a:rPr>
              <a:t>Performance was consistent across all four classes, with confusion matrix analysis revealing particular strength in distinguishing healthy scans from tumor presence, and reasonable accuracy in differentiating between tumor types.</a:t>
            </a:r>
            <a:endParaRPr sz="1350">
              <a:solidFill>
                <a:schemeClr val="dk1"/>
              </a:solidFill>
              <a:latin typeface="Calibri"/>
              <a:ea typeface="Calibri"/>
              <a:cs typeface="Calibri"/>
              <a:sym typeface="Calibri"/>
            </a:endParaRPr>
          </a:p>
        </p:txBody>
      </p:sp>
      <p:pic>
        <p:nvPicPr>
          <p:cNvPr id="177" name="Google Shape;177;p8"/>
          <p:cNvPicPr preferRelativeResize="0"/>
          <p:nvPr/>
        </p:nvPicPr>
        <p:blipFill rotWithShape="1">
          <a:blip r:embed="rId3">
            <a:alphaModFix/>
          </a:blip>
          <a:srcRect b="0" l="0" r="0" t="0"/>
          <a:stretch/>
        </p:blipFill>
        <p:spPr>
          <a:xfrm>
            <a:off x="700089" y="3362485"/>
            <a:ext cx="7806282" cy="2753836"/>
          </a:xfrm>
          <a:prstGeom prst="rect">
            <a:avLst/>
          </a:prstGeom>
          <a:noFill/>
          <a:ln>
            <a:noFill/>
          </a:ln>
        </p:spPr>
      </p:pic>
      <p:sp>
        <p:nvSpPr>
          <p:cNvPr id="178" name="Google Shape;178;p8"/>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p:nvPr/>
        </p:nvSpPr>
        <p:spPr>
          <a:xfrm>
            <a:off x="793790" y="929283"/>
            <a:ext cx="7991832"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lang="en-US" sz="3900">
                <a:solidFill>
                  <a:srgbClr val="233E32"/>
                </a:solidFill>
                <a:latin typeface="Alice"/>
                <a:ea typeface="Alice"/>
                <a:cs typeface="Alice"/>
                <a:sym typeface="Alice"/>
              </a:rPr>
              <a:t>Model Evaluation and Explainability</a:t>
            </a:r>
            <a:endParaRPr sz="3900">
              <a:solidFill>
                <a:schemeClr val="dk1"/>
              </a:solidFill>
              <a:latin typeface="Calibri"/>
              <a:ea typeface="Calibri"/>
              <a:cs typeface="Calibri"/>
              <a:sym typeface="Calibri"/>
            </a:endParaRPr>
          </a:p>
        </p:txBody>
      </p:sp>
      <p:sp>
        <p:nvSpPr>
          <p:cNvPr id="185" name="Google Shape;185;p9"/>
          <p:cNvSpPr/>
          <p:nvPr/>
        </p:nvSpPr>
        <p:spPr>
          <a:xfrm>
            <a:off x="793790" y="1946196"/>
            <a:ext cx="396835" cy="248007"/>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Alice"/>
              <a:buNone/>
            </a:pPr>
            <a:r>
              <a:rPr lang="en-US" sz="1550">
                <a:solidFill>
                  <a:srgbClr val="2C2821"/>
                </a:solidFill>
                <a:latin typeface="Alice"/>
                <a:ea typeface="Alice"/>
                <a:cs typeface="Alice"/>
                <a:sym typeface="Alice"/>
              </a:rPr>
              <a:t>01</a:t>
            </a:r>
            <a:endParaRPr sz="1550">
              <a:solidFill>
                <a:schemeClr val="dk1"/>
              </a:solidFill>
              <a:latin typeface="Calibri"/>
              <a:ea typeface="Calibri"/>
              <a:cs typeface="Calibri"/>
              <a:sym typeface="Calibri"/>
            </a:endParaRPr>
          </a:p>
        </p:txBody>
      </p:sp>
      <p:sp>
        <p:nvSpPr>
          <p:cNvPr id="186" name="Google Shape;186;p9"/>
          <p:cNvSpPr/>
          <p:nvPr/>
        </p:nvSpPr>
        <p:spPr>
          <a:xfrm>
            <a:off x="793790" y="2260521"/>
            <a:ext cx="6422231" cy="22860"/>
          </a:xfrm>
          <a:prstGeom prst="rect">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793790" y="2405420"/>
            <a:ext cx="3343156"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Precision, Recall, and F1-Score</a:t>
            </a:r>
            <a:endParaRPr sz="1950">
              <a:solidFill>
                <a:schemeClr val="dk1"/>
              </a:solidFill>
              <a:latin typeface="Calibri"/>
              <a:ea typeface="Calibri"/>
              <a:cs typeface="Calibri"/>
              <a:sym typeface="Calibri"/>
            </a:endParaRPr>
          </a:p>
        </p:txBody>
      </p:sp>
      <p:sp>
        <p:nvSpPr>
          <p:cNvPr id="188" name="Google Shape;188;p9"/>
          <p:cNvSpPr/>
          <p:nvPr/>
        </p:nvSpPr>
        <p:spPr>
          <a:xfrm>
            <a:off x="793790" y="2834640"/>
            <a:ext cx="642223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Comprehensive metrics revealed class-specific performance. High precision indicates low false positive rates, while strong recall ensures minimal missed diagnoses.</a:t>
            </a:r>
            <a:endParaRPr sz="1550">
              <a:solidFill>
                <a:schemeClr val="dk1"/>
              </a:solidFill>
              <a:latin typeface="Calibri"/>
              <a:ea typeface="Calibri"/>
              <a:cs typeface="Calibri"/>
              <a:sym typeface="Calibri"/>
            </a:endParaRPr>
          </a:p>
        </p:txBody>
      </p:sp>
      <p:sp>
        <p:nvSpPr>
          <p:cNvPr id="189" name="Google Shape;189;p9"/>
          <p:cNvSpPr/>
          <p:nvPr/>
        </p:nvSpPr>
        <p:spPr>
          <a:xfrm>
            <a:off x="7414379" y="1946196"/>
            <a:ext cx="396835" cy="248007"/>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Alice"/>
              <a:buNone/>
            </a:pPr>
            <a:r>
              <a:rPr lang="en-US" sz="1550">
                <a:solidFill>
                  <a:srgbClr val="2C2821"/>
                </a:solidFill>
                <a:latin typeface="Alice"/>
                <a:ea typeface="Alice"/>
                <a:cs typeface="Alice"/>
                <a:sym typeface="Alice"/>
              </a:rPr>
              <a:t>02</a:t>
            </a:r>
            <a:endParaRPr sz="1550">
              <a:solidFill>
                <a:schemeClr val="dk1"/>
              </a:solidFill>
              <a:latin typeface="Calibri"/>
              <a:ea typeface="Calibri"/>
              <a:cs typeface="Calibri"/>
              <a:sym typeface="Calibri"/>
            </a:endParaRPr>
          </a:p>
        </p:txBody>
      </p:sp>
      <p:sp>
        <p:nvSpPr>
          <p:cNvPr id="190" name="Google Shape;190;p9"/>
          <p:cNvSpPr/>
          <p:nvPr/>
        </p:nvSpPr>
        <p:spPr>
          <a:xfrm>
            <a:off x="7414379" y="2260521"/>
            <a:ext cx="6422231" cy="22860"/>
          </a:xfrm>
          <a:prstGeom prst="rect">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7414379" y="2405420"/>
            <a:ext cx="2919889"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Confusion Matrix Analysis</a:t>
            </a:r>
            <a:endParaRPr sz="1950">
              <a:solidFill>
                <a:schemeClr val="dk1"/>
              </a:solidFill>
              <a:latin typeface="Calibri"/>
              <a:ea typeface="Calibri"/>
              <a:cs typeface="Calibri"/>
              <a:sym typeface="Calibri"/>
            </a:endParaRPr>
          </a:p>
        </p:txBody>
      </p:sp>
      <p:sp>
        <p:nvSpPr>
          <p:cNvPr id="192" name="Google Shape;192;p9"/>
          <p:cNvSpPr/>
          <p:nvPr/>
        </p:nvSpPr>
        <p:spPr>
          <a:xfrm>
            <a:off x="7414379" y="2834640"/>
            <a:ext cx="642223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Visualized misclassification patterns, identifying which tumor types were occasionally confused. Most errors occurred between visually similar tumor presentations.</a:t>
            </a:r>
            <a:endParaRPr sz="1550">
              <a:solidFill>
                <a:schemeClr val="dk1"/>
              </a:solidFill>
              <a:latin typeface="Calibri"/>
              <a:ea typeface="Calibri"/>
              <a:cs typeface="Calibri"/>
              <a:sym typeface="Calibri"/>
            </a:endParaRPr>
          </a:p>
        </p:txBody>
      </p:sp>
      <p:sp>
        <p:nvSpPr>
          <p:cNvPr id="193" name="Google Shape;193;p9"/>
          <p:cNvSpPr/>
          <p:nvPr/>
        </p:nvSpPr>
        <p:spPr>
          <a:xfrm>
            <a:off x="793790" y="4134445"/>
            <a:ext cx="396835" cy="248007"/>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Alice"/>
              <a:buNone/>
            </a:pPr>
            <a:r>
              <a:rPr lang="en-US" sz="1550">
                <a:solidFill>
                  <a:srgbClr val="2C2821"/>
                </a:solidFill>
                <a:latin typeface="Alice"/>
                <a:ea typeface="Alice"/>
                <a:cs typeface="Alice"/>
                <a:sym typeface="Alice"/>
              </a:rPr>
              <a:t>03</a:t>
            </a:r>
            <a:endParaRPr sz="1550">
              <a:solidFill>
                <a:schemeClr val="dk1"/>
              </a:solidFill>
              <a:latin typeface="Calibri"/>
              <a:ea typeface="Calibri"/>
              <a:cs typeface="Calibri"/>
              <a:sym typeface="Calibri"/>
            </a:endParaRPr>
          </a:p>
        </p:txBody>
      </p:sp>
      <p:sp>
        <p:nvSpPr>
          <p:cNvPr id="194" name="Google Shape;194;p9"/>
          <p:cNvSpPr/>
          <p:nvPr/>
        </p:nvSpPr>
        <p:spPr>
          <a:xfrm>
            <a:off x="793790" y="4448770"/>
            <a:ext cx="6422231" cy="22860"/>
          </a:xfrm>
          <a:prstGeom prst="rect">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793790" y="4593669"/>
            <a:ext cx="2664381"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Grad-CAM Visualization</a:t>
            </a:r>
            <a:endParaRPr sz="1950">
              <a:solidFill>
                <a:schemeClr val="dk1"/>
              </a:solidFill>
              <a:latin typeface="Calibri"/>
              <a:ea typeface="Calibri"/>
              <a:cs typeface="Calibri"/>
              <a:sym typeface="Calibri"/>
            </a:endParaRPr>
          </a:p>
        </p:txBody>
      </p:sp>
      <p:sp>
        <p:nvSpPr>
          <p:cNvPr id="196" name="Google Shape;196;p9"/>
          <p:cNvSpPr/>
          <p:nvPr/>
        </p:nvSpPr>
        <p:spPr>
          <a:xfrm>
            <a:off x="793790" y="5022890"/>
            <a:ext cx="642223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Implemented Gradient-weighted Class Activation Mapping to generate attention heatmaps, showing exactly which image regions influenced classification decisions.</a:t>
            </a:r>
            <a:endParaRPr sz="1550">
              <a:solidFill>
                <a:schemeClr val="dk1"/>
              </a:solidFill>
              <a:latin typeface="Calibri"/>
              <a:ea typeface="Calibri"/>
              <a:cs typeface="Calibri"/>
              <a:sym typeface="Calibri"/>
            </a:endParaRPr>
          </a:p>
        </p:txBody>
      </p:sp>
      <p:sp>
        <p:nvSpPr>
          <p:cNvPr id="197" name="Google Shape;197;p9"/>
          <p:cNvSpPr/>
          <p:nvPr/>
        </p:nvSpPr>
        <p:spPr>
          <a:xfrm>
            <a:off x="7414379" y="4134445"/>
            <a:ext cx="396835" cy="248007"/>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Alice"/>
              <a:buNone/>
            </a:pPr>
            <a:r>
              <a:rPr lang="en-US" sz="1550">
                <a:solidFill>
                  <a:srgbClr val="2C2821"/>
                </a:solidFill>
                <a:latin typeface="Alice"/>
                <a:ea typeface="Alice"/>
                <a:cs typeface="Alice"/>
                <a:sym typeface="Alice"/>
              </a:rPr>
              <a:t>04</a:t>
            </a:r>
            <a:endParaRPr sz="1550">
              <a:solidFill>
                <a:schemeClr val="dk1"/>
              </a:solidFill>
              <a:latin typeface="Calibri"/>
              <a:ea typeface="Calibri"/>
              <a:cs typeface="Calibri"/>
              <a:sym typeface="Calibri"/>
            </a:endParaRPr>
          </a:p>
        </p:txBody>
      </p:sp>
      <p:sp>
        <p:nvSpPr>
          <p:cNvPr id="198" name="Google Shape;198;p9"/>
          <p:cNvSpPr/>
          <p:nvPr/>
        </p:nvSpPr>
        <p:spPr>
          <a:xfrm>
            <a:off x="7414379" y="4448770"/>
            <a:ext cx="6422231" cy="22860"/>
          </a:xfrm>
          <a:prstGeom prst="rect">
            <a:avLst/>
          </a:prstGeom>
          <a:solidFill>
            <a:srgbClr val="1B5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7414379" y="4593669"/>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2821"/>
              </a:buClr>
              <a:buSzPts val="1950"/>
              <a:buFont typeface="Alice"/>
              <a:buNone/>
            </a:pPr>
            <a:r>
              <a:rPr lang="en-US" sz="1950">
                <a:solidFill>
                  <a:srgbClr val="2C2821"/>
                </a:solidFill>
                <a:latin typeface="Alice"/>
                <a:ea typeface="Alice"/>
                <a:cs typeface="Alice"/>
                <a:sym typeface="Alice"/>
              </a:rPr>
              <a:t>Clinical Validation</a:t>
            </a:r>
            <a:endParaRPr sz="1950">
              <a:solidFill>
                <a:schemeClr val="dk1"/>
              </a:solidFill>
              <a:latin typeface="Calibri"/>
              <a:ea typeface="Calibri"/>
              <a:cs typeface="Calibri"/>
              <a:sym typeface="Calibri"/>
            </a:endParaRPr>
          </a:p>
        </p:txBody>
      </p:sp>
      <p:sp>
        <p:nvSpPr>
          <p:cNvPr id="200" name="Google Shape;200;p9"/>
          <p:cNvSpPr/>
          <p:nvPr/>
        </p:nvSpPr>
        <p:spPr>
          <a:xfrm>
            <a:off x="7414379" y="5022890"/>
            <a:ext cx="642223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Compared model predictions with expert annotations, confirming focus on anatomically relevant tumor locations rather than image artifacts.</a:t>
            </a:r>
            <a:endParaRPr sz="1550">
              <a:solidFill>
                <a:schemeClr val="dk1"/>
              </a:solidFill>
              <a:latin typeface="Calibri"/>
              <a:ea typeface="Calibri"/>
              <a:cs typeface="Calibri"/>
              <a:sym typeface="Calibri"/>
            </a:endParaRPr>
          </a:p>
        </p:txBody>
      </p:sp>
      <p:sp>
        <p:nvSpPr>
          <p:cNvPr id="201" name="Google Shape;201;p9"/>
          <p:cNvSpPr/>
          <p:nvPr/>
        </p:nvSpPr>
        <p:spPr>
          <a:xfrm>
            <a:off x="793790" y="6347579"/>
            <a:ext cx="1304282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Grad-CAM proved particularly valuable for building trust with medical professionals. By overlaying color-coded attention maps on original MRI scans, clinicians could verify the model was focusing on biologically plausible tumor locations rather than learning dataset artifacts. This interpretability is crucial for clinical adoption and regulatory approval.</a:t>
            </a:r>
            <a:endParaRPr sz="1550">
              <a:solidFill>
                <a:schemeClr val="dk1"/>
              </a:solidFill>
              <a:latin typeface="Calibri"/>
              <a:ea typeface="Calibri"/>
              <a:cs typeface="Calibri"/>
              <a:sym typeface="Calibri"/>
            </a:endParaRPr>
          </a:p>
        </p:txBody>
      </p:sp>
      <p:pic>
        <p:nvPicPr>
          <p:cNvPr id="202" name="Google Shape;202;p9"/>
          <p:cNvPicPr preferRelativeResize="0"/>
          <p:nvPr/>
        </p:nvPicPr>
        <p:blipFill rotWithShape="1">
          <a:blip r:embed="rId3">
            <a:alphaModFix/>
          </a:blip>
          <a:srcRect b="0" l="0" r="0" t="0"/>
          <a:stretch/>
        </p:blipFill>
        <p:spPr>
          <a:xfrm>
            <a:off x="10696614" y="10111"/>
            <a:ext cx="3052350" cy="2863869"/>
          </a:xfrm>
          <a:prstGeom prst="rect">
            <a:avLst/>
          </a:prstGeom>
          <a:noFill/>
          <a:ln>
            <a:noFill/>
          </a:ln>
        </p:spPr>
      </p:pic>
      <p:sp>
        <p:nvSpPr>
          <p:cNvPr id="203" name="Google Shape;203;p9"/>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p:nvPr/>
        </p:nvSpPr>
        <p:spPr>
          <a:xfrm>
            <a:off x="793790" y="619720"/>
            <a:ext cx="7431167"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33E32"/>
              </a:buClr>
              <a:buSzPts val="3900"/>
              <a:buFont typeface="Alice"/>
              <a:buNone/>
            </a:pPr>
            <a:r>
              <a:rPr lang="en-US" sz="3900">
                <a:solidFill>
                  <a:srgbClr val="233E32"/>
                </a:solidFill>
                <a:latin typeface="Alice"/>
                <a:ea typeface="Alice"/>
                <a:cs typeface="Alice"/>
                <a:sym typeface="Alice"/>
              </a:rPr>
              <a:t>Conclusion and Future Directions</a:t>
            </a:r>
            <a:endParaRPr sz="3900">
              <a:solidFill>
                <a:schemeClr val="dk1"/>
              </a:solidFill>
              <a:latin typeface="Calibri"/>
              <a:ea typeface="Calibri"/>
              <a:cs typeface="Calibri"/>
              <a:sym typeface="Calibri"/>
            </a:endParaRPr>
          </a:p>
        </p:txBody>
      </p:sp>
      <p:sp>
        <p:nvSpPr>
          <p:cNvPr id="210" name="Google Shape;210;p10"/>
          <p:cNvSpPr/>
          <p:nvPr/>
        </p:nvSpPr>
        <p:spPr>
          <a:xfrm>
            <a:off x="793790" y="1735812"/>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lang="en-US" sz="2300">
                <a:solidFill>
                  <a:srgbClr val="233E32"/>
                </a:solidFill>
                <a:latin typeface="Alice"/>
                <a:ea typeface="Alice"/>
                <a:cs typeface="Alice"/>
                <a:sym typeface="Alice"/>
              </a:rPr>
              <a:t>Key Achievements</a:t>
            </a:r>
            <a:endParaRPr sz="2300">
              <a:solidFill>
                <a:schemeClr val="dk1"/>
              </a:solidFill>
              <a:latin typeface="Calibri"/>
              <a:ea typeface="Calibri"/>
              <a:cs typeface="Calibri"/>
              <a:sym typeface="Calibri"/>
            </a:endParaRPr>
          </a:p>
        </p:txBody>
      </p:sp>
      <p:sp>
        <p:nvSpPr>
          <p:cNvPr id="211" name="Google Shape;211;p10"/>
          <p:cNvSpPr/>
          <p:nvPr/>
        </p:nvSpPr>
        <p:spPr>
          <a:xfrm>
            <a:off x="793790" y="2306241"/>
            <a:ext cx="6955631"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This project successfully demonstrated that deep learning can achieve high-accuracy multi-class brain tumor classification using MRI images. The EfficientNetB0 architecture proved particularly well-suited, balancing accuracy with computational efficiency.</a:t>
            </a:r>
            <a:endParaRPr sz="1550">
              <a:solidFill>
                <a:schemeClr val="dk1"/>
              </a:solidFill>
              <a:latin typeface="Calibri"/>
              <a:ea typeface="Calibri"/>
              <a:cs typeface="Calibri"/>
              <a:sym typeface="Calibri"/>
            </a:endParaRPr>
          </a:p>
        </p:txBody>
      </p:sp>
      <p:sp>
        <p:nvSpPr>
          <p:cNvPr id="212" name="Google Shape;212;p10"/>
          <p:cNvSpPr/>
          <p:nvPr/>
        </p:nvSpPr>
        <p:spPr>
          <a:xfrm>
            <a:off x="793790" y="3754993"/>
            <a:ext cx="6955631"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lang="en-US" sz="1550">
                <a:solidFill>
                  <a:srgbClr val="2C2821"/>
                </a:solidFill>
                <a:latin typeface="Lora"/>
                <a:ea typeface="Lora"/>
                <a:cs typeface="Lora"/>
                <a:sym typeface="Lora"/>
              </a:rPr>
              <a:t>Key contributions include:</a:t>
            </a:r>
            <a:endParaRPr sz="1550">
              <a:solidFill>
                <a:schemeClr val="dk1"/>
              </a:solidFill>
              <a:latin typeface="Calibri"/>
              <a:ea typeface="Calibri"/>
              <a:cs typeface="Calibri"/>
              <a:sym typeface="Calibri"/>
            </a:endParaRPr>
          </a:p>
        </p:txBody>
      </p:sp>
      <p:sp>
        <p:nvSpPr>
          <p:cNvPr id="213" name="Google Shape;213;p10"/>
          <p:cNvSpPr/>
          <p:nvPr/>
        </p:nvSpPr>
        <p:spPr>
          <a:xfrm>
            <a:off x="793790" y="4251127"/>
            <a:ext cx="6955631" cy="2113478"/>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2821"/>
              </a:buClr>
              <a:buSzPts val="1550"/>
              <a:buFont typeface="Lora"/>
              <a:buChar char="•"/>
            </a:pPr>
            <a:r>
              <a:rPr lang="en-US" sz="1550">
                <a:solidFill>
                  <a:srgbClr val="2C2821"/>
                </a:solidFill>
                <a:latin typeface="Lora"/>
                <a:ea typeface="Lora"/>
                <a:cs typeface="Lora"/>
                <a:sym typeface="Lora"/>
              </a:rPr>
              <a:t>Robust preprocessing pipeline handling data quality and class imbalance</a:t>
            </a:r>
            <a:endParaRPr sz="1550">
              <a:solidFill>
                <a:schemeClr val="dk1"/>
              </a:solidFill>
              <a:latin typeface="Calibri"/>
              <a:ea typeface="Calibri"/>
              <a:cs typeface="Calibri"/>
              <a:sym typeface="Calibri"/>
            </a:endParaRPr>
          </a:p>
          <a:p>
            <a:pPr indent="-342900" lvl="0" marL="342900" marR="0" rtl="0" algn="l">
              <a:lnSpc>
                <a:spcPct val="161290"/>
              </a:lnSpc>
              <a:spcBef>
                <a:spcPts val="0"/>
              </a:spcBef>
              <a:spcAft>
                <a:spcPts val="0"/>
              </a:spcAft>
              <a:buClr>
                <a:srgbClr val="2C2821"/>
              </a:buClr>
              <a:buSzPts val="1550"/>
              <a:buFont typeface="Lora"/>
              <a:buChar char="•"/>
            </a:pPr>
            <a:r>
              <a:rPr lang="en-US" sz="1550">
                <a:solidFill>
                  <a:srgbClr val="2C2821"/>
                </a:solidFill>
                <a:latin typeface="Lora"/>
                <a:ea typeface="Lora"/>
                <a:cs typeface="Lora"/>
                <a:sym typeface="Lora"/>
              </a:rPr>
              <a:t>Two-stage training strategy optimizing feature extraction and fine-tuning</a:t>
            </a:r>
            <a:endParaRPr sz="1550">
              <a:solidFill>
                <a:schemeClr val="dk1"/>
              </a:solidFill>
              <a:latin typeface="Calibri"/>
              <a:ea typeface="Calibri"/>
              <a:cs typeface="Calibri"/>
              <a:sym typeface="Calibri"/>
            </a:endParaRPr>
          </a:p>
          <a:p>
            <a:pPr indent="-342900" lvl="0" marL="342900" marR="0" rtl="0" algn="l">
              <a:lnSpc>
                <a:spcPct val="161290"/>
              </a:lnSpc>
              <a:spcBef>
                <a:spcPts val="0"/>
              </a:spcBef>
              <a:spcAft>
                <a:spcPts val="0"/>
              </a:spcAft>
              <a:buClr>
                <a:srgbClr val="2C2821"/>
              </a:buClr>
              <a:buSzPts val="1550"/>
              <a:buFont typeface="Lora"/>
              <a:buChar char="•"/>
            </a:pPr>
            <a:r>
              <a:rPr lang="en-US" sz="1550">
                <a:solidFill>
                  <a:srgbClr val="2C2821"/>
                </a:solidFill>
                <a:latin typeface="Lora"/>
                <a:ea typeface="Lora"/>
                <a:cs typeface="Lora"/>
                <a:sym typeface="Lora"/>
              </a:rPr>
              <a:t>Explainable predictions using Grad-CAM visualization</a:t>
            </a:r>
            <a:endParaRPr sz="1550">
              <a:solidFill>
                <a:schemeClr val="dk1"/>
              </a:solidFill>
              <a:latin typeface="Calibri"/>
              <a:ea typeface="Calibri"/>
              <a:cs typeface="Calibri"/>
              <a:sym typeface="Calibri"/>
            </a:endParaRPr>
          </a:p>
          <a:p>
            <a:pPr indent="-342900" lvl="0" marL="342900" marR="0" rtl="0" algn="l">
              <a:lnSpc>
                <a:spcPct val="161290"/>
              </a:lnSpc>
              <a:spcBef>
                <a:spcPts val="0"/>
              </a:spcBef>
              <a:spcAft>
                <a:spcPts val="0"/>
              </a:spcAft>
              <a:buClr>
                <a:srgbClr val="2C2821"/>
              </a:buClr>
              <a:buSzPts val="1550"/>
              <a:buFont typeface="Lora"/>
              <a:buChar char="•"/>
            </a:pPr>
            <a:r>
              <a:rPr lang="en-US" sz="1550">
                <a:solidFill>
                  <a:srgbClr val="2C2821"/>
                </a:solidFill>
                <a:latin typeface="Lora"/>
                <a:ea typeface="Lora"/>
                <a:cs typeface="Lora"/>
                <a:sym typeface="Lora"/>
              </a:rPr>
              <a:t>Reproducible methodology documented for further research</a:t>
            </a:r>
            <a:endParaRPr sz="1550">
              <a:solidFill>
                <a:schemeClr val="dk1"/>
              </a:solidFill>
              <a:latin typeface="Calibri"/>
              <a:ea typeface="Calibri"/>
              <a:cs typeface="Calibri"/>
              <a:sym typeface="Calibri"/>
            </a:endParaRPr>
          </a:p>
        </p:txBody>
      </p:sp>
      <p:sp>
        <p:nvSpPr>
          <p:cNvPr id="214" name="Google Shape;214;p10"/>
          <p:cNvSpPr/>
          <p:nvPr/>
        </p:nvSpPr>
        <p:spPr>
          <a:xfrm>
            <a:off x="8241149" y="1735812"/>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233E32"/>
              </a:buClr>
              <a:buSzPts val="2300"/>
              <a:buFont typeface="Alice"/>
              <a:buNone/>
            </a:pPr>
            <a:r>
              <a:rPr lang="en-US" sz="2300">
                <a:solidFill>
                  <a:srgbClr val="233E32"/>
                </a:solidFill>
                <a:latin typeface="Alice"/>
                <a:ea typeface="Alice"/>
                <a:cs typeface="Alice"/>
                <a:sym typeface="Alice"/>
              </a:rPr>
              <a:t>Future Enhancements</a:t>
            </a:r>
            <a:endParaRPr sz="2300">
              <a:solidFill>
                <a:schemeClr val="dk1"/>
              </a:solidFill>
              <a:latin typeface="Calibri"/>
              <a:ea typeface="Calibri"/>
              <a:cs typeface="Calibri"/>
              <a:sym typeface="Calibri"/>
            </a:endParaRPr>
          </a:p>
        </p:txBody>
      </p:sp>
      <p:sp>
        <p:nvSpPr>
          <p:cNvPr id="215" name="Google Shape;215;p10"/>
          <p:cNvSpPr/>
          <p:nvPr/>
        </p:nvSpPr>
        <p:spPr>
          <a:xfrm>
            <a:off x="8241149" y="2306241"/>
            <a:ext cx="5602962"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Web Application Deployment:</a:t>
            </a:r>
            <a:r>
              <a:rPr lang="en-US" sz="1550">
                <a:solidFill>
                  <a:srgbClr val="2C2821"/>
                </a:solidFill>
                <a:latin typeface="Lora"/>
                <a:ea typeface="Lora"/>
                <a:cs typeface="Lora"/>
                <a:sym typeface="Lora"/>
              </a:rPr>
              <a:t> Building user-friendly interface for clinical testing</a:t>
            </a:r>
            <a:endParaRPr sz="1550">
              <a:solidFill>
                <a:schemeClr val="dk1"/>
              </a:solidFill>
              <a:latin typeface="Calibri"/>
              <a:ea typeface="Calibri"/>
              <a:cs typeface="Calibri"/>
              <a:sym typeface="Calibri"/>
            </a:endParaRPr>
          </a:p>
        </p:txBody>
      </p:sp>
      <p:sp>
        <p:nvSpPr>
          <p:cNvPr id="216" name="Google Shape;216;p10"/>
          <p:cNvSpPr/>
          <p:nvPr/>
        </p:nvSpPr>
        <p:spPr>
          <a:xfrm>
            <a:off x="8241149" y="3119914"/>
            <a:ext cx="5602962"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Model Comparison:</a:t>
            </a:r>
            <a:r>
              <a:rPr lang="en-US" sz="1550">
                <a:solidFill>
                  <a:srgbClr val="2C2821"/>
                </a:solidFill>
                <a:latin typeface="Lora"/>
                <a:ea typeface="Lora"/>
                <a:cs typeface="Lora"/>
                <a:sym typeface="Lora"/>
              </a:rPr>
              <a:t> Benchmarking against Vision Transformers and other architectures</a:t>
            </a:r>
            <a:endParaRPr sz="1550">
              <a:solidFill>
                <a:schemeClr val="dk1"/>
              </a:solidFill>
              <a:latin typeface="Calibri"/>
              <a:ea typeface="Calibri"/>
              <a:cs typeface="Calibri"/>
              <a:sym typeface="Calibri"/>
            </a:endParaRPr>
          </a:p>
        </p:txBody>
      </p:sp>
      <p:sp>
        <p:nvSpPr>
          <p:cNvPr id="217" name="Google Shape;217;p10"/>
          <p:cNvSpPr/>
          <p:nvPr/>
        </p:nvSpPr>
        <p:spPr>
          <a:xfrm>
            <a:off x="8241149" y="3933587"/>
            <a:ext cx="5602962"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ROC-AUC Analysis:</a:t>
            </a:r>
            <a:r>
              <a:rPr lang="en-US" sz="1550">
                <a:solidFill>
                  <a:srgbClr val="2C2821"/>
                </a:solidFill>
                <a:latin typeface="Lora"/>
                <a:ea typeface="Lora"/>
                <a:cs typeface="Lora"/>
                <a:sym typeface="Lora"/>
              </a:rPr>
              <a:t> Comprehensive receiver operating characteristic evaluation</a:t>
            </a:r>
            <a:endParaRPr sz="1550">
              <a:solidFill>
                <a:schemeClr val="dk1"/>
              </a:solidFill>
              <a:latin typeface="Calibri"/>
              <a:ea typeface="Calibri"/>
              <a:cs typeface="Calibri"/>
              <a:sym typeface="Calibri"/>
            </a:endParaRPr>
          </a:p>
        </p:txBody>
      </p:sp>
      <p:sp>
        <p:nvSpPr>
          <p:cNvPr id="218" name="Google Shape;218;p10"/>
          <p:cNvSpPr/>
          <p:nvPr/>
        </p:nvSpPr>
        <p:spPr>
          <a:xfrm>
            <a:off x="8241149" y="4747260"/>
            <a:ext cx="5602962"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External Validation:</a:t>
            </a:r>
            <a:r>
              <a:rPr lang="en-US" sz="1550">
                <a:solidFill>
                  <a:srgbClr val="2C2821"/>
                </a:solidFill>
                <a:latin typeface="Lora"/>
                <a:ea typeface="Lora"/>
                <a:cs typeface="Lora"/>
                <a:sym typeface="Lora"/>
              </a:rPr>
              <a:t> Testing on independent datasets from different hospitals</a:t>
            </a:r>
            <a:endParaRPr sz="1550">
              <a:solidFill>
                <a:schemeClr val="dk1"/>
              </a:solidFill>
              <a:latin typeface="Calibri"/>
              <a:ea typeface="Calibri"/>
              <a:cs typeface="Calibri"/>
              <a:sym typeface="Calibri"/>
            </a:endParaRPr>
          </a:p>
        </p:txBody>
      </p:sp>
      <p:sp>
        <p:nvSpPr>
          <p:cNvPr id="219" name="Google Shape;219;p10"/>
          <p:cNvSpPr/>
          <p:nvPr/>
        </p:nvSpPr>
        <p:spPr>
          <a:xfrm>
            <a:off x="8241149" y="5560933"/>
            <a:ext cx="5602962"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2821"/>
              </a:buClr>
              <a:buSzPts val="1550"/>
              <a:buFont typeface="Lora"/>
              <a:buNone/>
            </a:pPr>
            <a:r>
              <a:rPr b="1" lang="en-US" sz="1550">
                <a:solidFill>
                  <a:srgbClr val="2C2821"/>
                </a:solidFill>
                <a:latin typeface="Lora"/>
                <a:ea typeface="Lora"/>
                <a:cs typeface="Lora"/>
                <a:sym typeface="Lora"/>
              </a:rPr>
              <a:t>Ensemble Methods:</a:t>
            </a:r>
            <a:r>
              <a:rPr lang="en-US" sz="1550">
                <a:solidFill>
                  <a:srgbClr val="2C2821"/>
                </a:solidFill>
                <a:latin typeface="Lora"/>
                <a:ea typeface="Lora"/>
                <a:cs typeface="Lora"/>
                <a:sym typeface="Lora"/>
              </a:rPr>
              <a:t> Combining multiple models to improve robustness</a:t>
            </a:r>
            <a:endParaRPr sz="1550">
              <a:solidFill>
                <a:schemeClr val="dk1"/>
              </a:solidFill>
              <a:latin typeface="Calibri"/>
              <a:ea typeface="Calibri"/>
              <a:cs typeface="Calibri"/>
              <a:sym typeface="Calibri"/>
            </a:endParaRPr>
          </a:p>
        </p:txBody>
      </p:sp>
      <p:sp>
        <p:nvSpPr>
          <p:cNvPr id="220" name="Google Shape;220;p10"/>
          <p:cNvSpPr/>
          <p:nvPr/>
        </p:nvSpPr>
        <p:spPr>
          <a:xfrm>
            <a:off x="793790" y="6657261"/>
            <a:ext cx="1304282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B0AFF"/>
              </a:buClr>
              <a:buSzPts val="1550"/>
              <a:buFont typeface="Lora"/>
              <a:buNone/>
            </a:pPr>
            <a:r>
              <a:rPr b="1" lang="en-US" sz="1550">
                <a:solidFill>
                  <a:srgbClr val="2B0AFF"/>
                </a:solidFill>
                <a:latin typeface="Lora"/>
                <a:ea typeface="Lora"/>
                <a:cs typeface="Lora"/>
                <a:sym typeface="Lora"/>
              </a:rPr>
              <a:t>Impact:</a:t>
            </a:r>
            <a:r>
              <a:rPr lang="en-US" sz="1550">
                <a:solidFill>
                  <a:srgbClr val="2C2821"/>
                </a:solidFill>
                <a:latin typeface="Lora"/>
                <a:ea typeface="Lora"/>
                <a:cs typeface="Lora"/>
                <a:sym typeface="Lora"/>
              </a:rPr>
              <a:t> This work contributes to the growing field of medical AI, demonstrating practical applications of deep learning for automated diagnosis. With further validation and deployment, such systems could significantly improve healthcare accessibility and diagnostic consistency worldwide.</a:t>
            </a:r>
            <a:endParaRPr sz="1550">
              <a:solidFill>
                <a:schemeClr val="dk1"/>
              </a:solidFill>
              <a:latin typeface="Calibri"/>
              <a:ea typeface="Calibri"/>
              <a:cs typeface="Calibri"/>
              <a:sym typeface="Calibri"/>
            </a:endParaRPr>
          </a:p>
        </p:txBody>
      </p:sp>
      <p:sp>
        <p:nvSpPr>
          <p:cNvPr id="221" name="Google Shape;221;p10"/>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1"/>
          <p:cNvSpPr/>
          <p:nvPr/>
        </p:nvSpPr>
        <p:spPr>
          <a:xfrm>
            <a:off x="12781280" y="7778472"/>
            <a:ext cx="1767840" cy="380007"/>
          </a:xfrm>
          <a:prstGeom prst="rect">
            <a:avLst/>
          </a:prstGeom>
          <a:solidFill>
            <a:srgbClr val="FCFB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1"/>
          <p:cNvSpPr/>
          <p:nvPr/>
        </p:nvSpPr>
        <p:spPr>
          <a:xfrm>
            <a:off x="4236720" y="3171239"/>
            <a:ext cx="6156959"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8000" cap="none">
                <a:solidFill>
                  <a:srgbClr val="262626"/>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2026-04-26T08:17:57Z</dcterms:created>
</cp:coreProperties>
</file>